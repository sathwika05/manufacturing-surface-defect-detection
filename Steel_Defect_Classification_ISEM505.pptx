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deep-learning image classifier that identifies which of six surface defects appears on a hot-rolled steel strip, built as an end-to-end pipeline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plain terms: inspection today depends on a person looking at steel, and the defect type decides what the mill does next. Our model automates that naming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what each defect actually looks like. Point out that crazing and rolled-in scale are both fine surface texture, and scratches can resemble inclusions. That similarity is what shows up later in the confusion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split reasoning: the set used to make decisions cannot be the set used to report results. Mention that the original download already had a validation folder, which we kept whole as our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makes every input identical in shape and scale; augmentation deliberately adds variation so a small dataset does not get memorised. Stress that validation and test images are never augmented.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transfer learning with the analogy of borrowing trained eyes. Stage 1 trains only the new head with the backbone frozen; stage 2 unfreezes the top layers at a much smaller learning rate so the pretrained features are refined, not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candidates came out of training. Fine-tuning improved validation accuracy by 0.35 points and halved the loss, so it was selected. That decision used validation data only, leaving the test set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the sealed-test result and be upfront about the gap: validation was consulted for early stopping and model selection, so it is biased upward. 93.06% on 360 unseen images is the honest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hides the interesting part. Scratches and pitted surface are the weak classes, and both get confused with rolled-in scale, which is exactly what the sample images predicted. Crucially, wrong predictions carry much lower confidence, which makes a review threshold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notebook to usable tool: one file holds everything needed to score an image, the Gradio app is a thin layer over it, and the confidence threshold routes uncertain images to a human instead of forcing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takeaways, then the limits: this dataset is clean laboratory imagery and contains no defect-free steel, so a real deployment needs harder data, a normal class, and ongoing monitoring. Thank the audience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1005840" cy="32004"/>
          </a:xfrm>
          <a:prstGeom prst="rect">
            <a:avLst/>
          </a:prstGeom>
          <a:solidFill>
            <a:srgbClr val="9DB8D9"/>
          </a:solidFill>
          <a:ln w="12700">
            <a:solidFill>
              <a:srgbClr val="333333"/>
            </a:solidFill>
            <a:prstDash val="solid"/>
          </a:ln>
        </p:spPr>
      </p:sp>
      <p:sp>
        <p:nvSpPr>
          <p:cNvPr id="3" name="Text 1"/>
          <p:cNvSpPr txBox="1"/>
          <p:nvPr/>
        </p:nvSpPr>
        <p:spPr>
          <a:xfrm>
            <a:off x="640080" y="960120"/>
            <a:ext cx="5486400" cy="274320"/>
          </a:xfrm>
          <a:prstGeom prst="rect">
            <a:avLst/>
          </a:prstGeom>
          <a:noFill/>
          <a:ln/>
        </p:spPr>
        <p:txBody>
          <a:bodyPr wrap="square" lIns="0" tIns="0" rIns="0" bIns="0" rtlCol="0" anchor="t"/>
          <a:lstStyle/>
          <a:p>
            <a:pPr indent="0" marL="0">
              <a:buNone/>
            </a:pPr>
            <a:r>
              <a:rPr lang="en-US" sz="1150" b="1" spc="200" kern="0" dirty="0">
                <a:solidFill>
                  <a:srgbClr val="9DB8D9"/>
                </a:solidFill>
                <a:latin typeface="Arial" pitchFamily="34" charset="0"/>
                <a:ea typeface="Arial" pitchFamily="34" charset="-122"/>
                <a:cs typeface="Arial" pitchFamily="34" charset="-120"/>
              </a:rPr>
              <a:t>ISEM 505  ·  DEEP LEARNING PROJECT</a:t>
            </a:r>
            <a:endParaRPr lang="en-US" sz="1150" dirty="0"/>
          </a:p>
        </p:txBody>
      </p:sp>
      <p:sp>
        <p:nvSpPr>
          <p:cNvPr id="4" name="Text 2"/>
          <p:cNvSpPr txBox="1"/>
          <p:nvPr/>
        </p:nvSpPr>
        <p:spPr>
          <a:xfrm>
            <a:off x="640080" y="1737360"/>
            <a:ext cx="6583680" cy="1828800"/>
          </a:xfrm>
          <a:prstGeom prst="rect">
            <a:avLst/>
          </a:prstGeom>
          <a:noFill/>
          <a:ln/>
        </p:spPr>
        <p:txBody>
          <a:bodyPr wrap="square" lIns="0" tIns="0" rIns="0" bIns="0" rtlCol="0" anchor="ctr"/>
          <a:lstStyle/>
          <a:p>
            <a:pPr indent="0" marL="0">
              <a:lnSpc>
                <a:spcPct val="100000"/>
              </a:lnSpc>
              <a:buNone/>
            </a:pPr>
            <a:r>
              <a:rPr lang="en-US" sz="4400" b="1" dirty="0">
                <a:solidFill>
                  <a:srgbClr val="ECEFF3"/>
                </a:solidFill>
                <a:latin typeface="Arial" pitchFamily="34" charset="0"/>
                <a:ea typeface="Arial" pitchFamily="34" charset="-122"/>
                <a:cs typeface="Arial" pitchFamily="34" charset="-120"/>
              </a:rPr>
              <a:t>Steel Surface</a:t>
            </a:r>
            <a:endParaRPr lang="en-US" sz="4400" dirty="0"/>
          </a:p>
          <a:p>
            <a:pPr indent="0" marL="0">
              <a:lnSpc>
                <a:spcPct val="100000"/>
              </a:lnSpc>
              <a:buNone/>
            </a:pPr>
            <a:r>
              <a:rPr lang="en-US" sz="4400" b="1" dirty="0">
                <a:solidFill>
                  <a:srgbClr val="ECEFF3"/>
                </a:solidFill>
                <a:latin typeface="Arial" pitchFamily="34" charset="0"/>
                <a:ea typeface="Arial" pitchFamily="34" charset="-122"/>
                <a:cs typeface="Arial" pitchFamily="34" charset="-120"/>
              </a:rPr>
              <a:t>Defect Classification</a:t>
            </a:r>
            <a:endParaRPr lang="en-US" sz="4400" dirty="0"/>
          </a:p>
        </p:txBody>
      </p:sp>
      <p:sp>
        <p:nvSpPr>
          <p:cNvPr id="5" name="Text 3"/>
          <p:cNvSpPr txBox="1"/>
          <p:nvPr/>
        </p:nvSpPr>
        <p:spPr>
          <a:xfrm>
            <a:off x="640080" y="3703320"/>
            <a:ext cx="6309360" cy="822960"/>
          </a:xfrm>
          <a:prstGeom prst="rect">
            <a:avLst/>
          </a:prstGeom>
          <a:noFill/>
          <a:ln/>
        </p:spPr>
        <p:txBody>
          <a:bodyPr wrap="square" lIns="0" tIns="0" rIns="0" bIns="0" rtlCol="0" anchor="t"/>
          <a:lstStyle/>
          <a:p>
            <a:pPr indent="0" marL="0">
              <a:buNone/>
            </a:pPr>
            <a:r>
              <a:rPr lang="en-US" sz="1600" dirty="0">
                <a:solidFill>
                  <a:srgbClr val="98A2B0"/>
                </a:solidFill>
                <a:latin typeface="Calibri" pitchFamily="34" charset="0"/>
                <a:ea typeface="Calibri" pitchFamily="34" charset="-122"/>
                <a:cs typeface="Calibri" pitchFamily="34" charset="-120"/>
              </a:rPr>
              <a:t>Transfer learning with EfficientNetB0 on the NEU-DET database:</a:t>
            </a:r>
            <a:endParaRPr lang="en-US" sz="1600" dirty="0"/>
          </a:p>
          <a:p>
            <a:pPr indent="0" marL="0">
              <a:buNone/>
            </a:pPr>
            <a:r>
              <a:rPr lang="en-US" sz="1600" dirty="0">
                <a:solidFill>
                  <a:srgbClr val="98A2B0"/>
                </a:solidFill>
                <a:latin typeface="Calibri" pitchFamily="34" charset="0"/>
                <a:ea typeface="Calibri" pitchFamily="34" charset="-122"/>
                <a:cs typeface="Calibri" pitchFamily="34" charset="-120"/>
              </a:rPr>
              <a:t>six surface defects, classified from a single grayscale image.</a:t>
            </a:r>
            <a:endParaRPr lang="en-US" sz="1600" dirty="0"/>
          </a:p>
        </p:txBody>
      </p:sp>
      <p:sp>
        <p:nvSpPr>
          <p:cNvPr id="6" name="Shape 4"/>
          <p:cNvSpPr/>
          <p:nvPr/>
        </p:nvSpPr>
        <p:spPr>
          <a:xfrm>
            <a:off x="640080" y="4800600"/>
            <a:ext cx="6309360" cy="0"/>
          </a:xfrm>
          <a:prstGeom prst="line">
            <a:avLst/>
          </a:prstGeom>
          <a:noFill/>
          <a:ln w="12700">
            <a:solidFill>
              <a:srgbClr val="2E3640"/>
            </a:solidFill>
            <a:prstDash val="solid"/>
          </a:ln>
        </p:spPr>
      </p:sp>
      <p:sp>
        <p:nvSpPr>
          <p:cNvPr id="7" name="Shape 5"/>
          <p:cNvSpPr/>
          <p:nvPr/>
        </p:nvSpPr>
        <p:spPr>
          <a:xfrm>
            <a:off x="640080" y="5175504"/>
            <a:ext cx="128016" cy="128016"/>
          </a:xfrm>
          <a:prstGeom prst="ellipse">
            <a:avLst/>
          </a:prstGeom>
          <a:solidFill>
            <a:srgbClr val="9DB8D9"/>
          </a:solidFill>
          <a:ln w="12700">
            <a:solidFill>
              <a:srgbClr val="333333"/>
            </a:solidFill>
            <a:prstDash val="solid"/>
          </a:ln>
        </p:spPr>
      </p:sp>
      <p:sp>
        <p:nvSpPr>
          <p:cNvPr id="8" name="Text 6"/>
          <p:cNvSpPr txBox="1"/>
          <p:nvPr/>
        </p:nvSpPr>
        <p:spPr>
          <a:xfrm>
            <a:off x="896112" y="5047488"/>
            <a:ext cx="1828800" cy="411480"/>
          </a:xfrm>
          <a:prstGeom prst="rect">
            <a:avLst/>
          </a:prstGeom>
          <a:noFill/>
          <a:ln/>
        </p:spPr>
        <p:txBody>
          <a:bodyPr wrap="square" lIns="0" tIns="0" rIns="0" bIns="0" rtlCol="0" anchor="ctr"/>
          <a:lstStyle/>
          <a:p>
            <a:pPr indent="0" marL="0">
              <a:buNone/>
            </a:pPr>
            <a:r>
              <a:rPr lang="en-US" sz="1400" b="1" dirty="0">
                <a:solidFill>
                  <a:srgbClr val="ECEFF3"/>
                </a:solidFill>
                <a:latin typeface="Calibri" pitchFamily="34" charset="0"/>
                <a:ea typeface="Calibri" pitchFamily="34" charset="-122"/>
                <a:cs typeface="Calibri" pitchFamily="34" charset="-120"/>
              </a:rPr>
              <a:t>Jeny George</a:t>
            </a:r>
            <a:endParaRPr lang="en-US" sz="1400" dirty="0"/>
          </a:p>
        </p:txBody>
      </p:sp>
      <p:sp>
        <p:nvSpPr>
          <p:cNvPr id="9" name="Shape 7"/>
          <p:cNvSpPr/>
          <p:nvPr/>
        </p:nvSpPr>
        <p:spPr>
          <a:xfrm>
            <a:off x="2743200" y="5175504"/>
            <a:ext cx="128016" cy="128016"/>
          </a:xfrm>
          <a:prstGeom prst="ellipse">
            <a:avLst/>
          </a:prstGeom>
          <a:solidFill>
            <a:srgbClr val="A9C7A9"/>
          </a:solidFill>
          <a:ln w="12700">
            <a:solidFill>
              <a:srgbClr val="333333"/>
            </a:solidFill>
            <a:prstDash val="solid"/>
          </a:ln>
        </p:spPr>
      </p:sp>
      <p:sp>
        <p:nvSpPr>
          <p:cNvPr id="10" name="Text 8"/>
          <p:cNvSpPr txBox="1"/>
          <p:nvPr/>
        </p:nvSpPr>
        <p:spPr>
          <a:xfrm>
            <a:off x="2999232" y="5047488"/>
            <a:ext cx="1828800" cy="411480"/>
          </a:xfrm>
          <a:prstGeom prst="rect">
            <a:avLst/>
          </a:prstGeom>
          <a:noFill/>
          <a:ln/>
        </p:spPr>
        <p:txBody>
          <a:bodyPr wrap="square" lIns="0" tIns="0" rIns="0" bIns="0" rtlCol="0" anchor="ctr"/>
          <a:lstStyle/>
          <a:p>
            <a:pPr indent="0" marL="0">
              <a:buNone/>
            </a:pPr>
            <a:r>
              <a:rPr lang="en-US" sz="1400" b="1" dirty="0">
                <a:solidFill>
                  <a:srgbClr val="ECEFF3"/>
                </a:solidFill>
                <a:latin typeface="Calibri" pitchFamily="34" charset="0"/>
                <a:ea typeface="Calibri" pitchFamily="34" charset="-122"/>
                <a:cs typeface="Calibri" pitchFamily="34" charset="-120"/>
              </a:rPr>
              <a:t>Freddy Biayi</a:t>
            </a:r>
            <a:endParaRPr lang="en-US" sz="1400" dirty="0"/>
          </a:p>
        </p:txBody>
      </p:sp>
      <p:sp>
        <p:nvSpPr>
          <p:cNvPr id="11" name="Shape 9"/>
          <p:cNvSpPr/>
          <p:nvPr/>
        </p:nvSpPr>
        <p:spPr>
          <a:xfrm>
            <a:off x="4846320" y="5175504"/>
            <a:ext cx="128016" cy="128016"/>
          </a:xfrm>
          <a:prstGeom prst="ellipse">
            <a:avLst/>
          </a:prstGeom>
          <a:solidFill>
            <a:srgbClr val="E3C79A"/>
          </a:solidFill>
          <a:ln w="12700">
            <a:solidFill>
              <a:srgbClr val="333333"/>
            </a:solidFill>
            <a:prstDash val="solid"/>
          </a:ln>
        </p:spPr>
      </p:sp>
      <p:sp>
        <p:nvSpPr>
          <p:cNvPr id="12" name="Text 10"/>
          <p:cNvSpPr txBox="1"/>
          <p:nvPr/>
        </p:nvSpPr>
        <p:spPr>
          <a:xfrm>
            <a:off x="5102352" y="5047488"/>
            <a:ext cx="2377440" cy="411480"/>
          </a:xfrm>
          <a:prstGeom prst="rect">
            <a:avLst/>
          </a:prstGeom>
          <a:noFill/>
          <a:ln/>
        </p:spPr>
        <p:txBody>
          <a:bodyPr wrap="square" lIns="0" tIns="0" rIns="0" bIns="0" rtlCol="0" anchor="ctr"/>
          <a:lstStyle/>
          <a:p>
            <a:pPr indent="0" marL="0">
              <a:buNone/>
            </a:pPr>
            <a:r>
              <a:rPr lang="en-US" sz="1400" b="1" dirty="0">
                <a:solidFill>
                  <a:srgbClr val="ECEFF3"/>
                </a:solidFill>
                <a:latin typeface="Calibri" pitchFamily="34" charset="0"/>
                <a:ea typeface="Calibri" pitchFamily="34" charset="-122"/>
                <a:cs typeface="Calibri" pitchFamily="34" charset="-120"/>
              </a:rPr>
              <a:t>Sathwika Parshaboina</a:t>
            </a:r>
            <a:endParaRPr lang="en-US" sz="1400" dirty="0"/>
          </a:p>
        </p:txBody>
      </p:sp>
      <p:sp>
        <p:nvSpPr>
          <p:cNvPr id="13" name="Shape 11"/>
          <p:cNvSpPr/>
          <p:nvPr/>
        </p:nvSpPr>
        <p:spPr>
          <a:xfrm>
            <a:off x="7763256" y="1728216"/>
            <a:ext cx="1801368" cy="1801368"/>
          </a:xfrm>
          <a:prstGeom prst="roundRect">
            <a:avLst>
              <a:gd name="adj" fmla="val 3046"/>
            </a:avLst>
          </a:prstGeom>
          <a:solidFill>
            <a:srgbClr val="232A33"/>
          </a:solidFill>
          <a:ln w="12700">
            <a:solidFill>
              <a:srgbClr val="2E3640"/>
            </a:solidFill>
            <a:prstDash val="solid"/>
          </a:ln>
        </p:spPr>
      </p:sp>
      <p:pic>
        <p:nvPicPr>
          <p:cNvPr id="14" name="Image 0" descr="/home/claude/steel/img/tile_scratches.png">    </p:cNvPr>
          <p:cNvPicPr>
            <a:picLocks noChangeAspect="1"/>
          </p:cNvPicPr>
          <p:nvPr/>
        </p:nvPicPr>
        <p:blipFill>
          <a:blip r:embed="rId2"/>
          <a:stretch>
            <a:fillRect/>
          </a:stretch>
        </p:blipFill>
        <p:spPr>
          <a:xfrm>
            <a:off x="7818120" y="1783080"/>
            <a:ext cx="1691640" cy="1691640"/>
          </a:xfrm>
          <a:prstGeom prst="rect">
            <a:avLst/>
          </a:prstGeom>
        </p:spPr>
      </p:pic>
      <p:sp>
        <p:nvSpPr>
          <p:cNvPr id="15" name="Text 12"/>
          <p:cNvSpPr txBox="1"/>
          <p:nvPr/>
        </p:nvSpPr>
        <p:spPr>
          <a:xfrm>
            <a:off x="7818120" y="3520440"/>
            <a:ext cx="1691640" cy="27432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Scratches</a:t>
            </a:r>
            <a:endParaRPr lang="en-US" sz="1050" dirty="0"/>
          </a:p>
        </p:txBody>
      </p:sp>
      <p:sp>
        <p:nvSpPr>
          <p:cNvPr id="16" name="Shape 13"/>
          <p:cNvSpPr/>
          <p:nvPr/>
        </p:nvSpPr>
        <p:spPr>
          <a:xfrm>
            <a:off x="9729216" y="1728216"/>
            <a:ext cx="1801368" cy="1801368"/>
          </a:xfrm>
          <a:prstGeom prst="roundRect">
            <a:avLst>
              <a:gd name="adj" fmla="val 3046"/>
            </a:avLst>
          </a:prstGeom>
          <a:solidFill>
            <a:srgbClr val="232A33"/>
          </a:solidFill>
          <a:ln w="12700">
            <a:solidFill>
              <a:srgbClr val="2E3640"/>
            </a:solidFill>
            <a:prstDash val="solid"/>
          </a:ln>
        </p:spPr>
      </p:sp>
      <p:pic>
        <p:nvPicPr>
          <p:cNvPr id="17" name="Image 1" descr="/home/claude/steel/img/tile_patches.png">    </p:cNvPr>
          <p:cNvPicPr>
            <a:picLocks noChangeAspect="1"/>
          </p:cNvPicPr>
          <p:nvPr/>
        </p:nvPicPr>
        <p:blipFill>
          <a:blip r:embed="rId3"/>
          <a:stretch>
            <a:fillRect/>
          </a:stretch>
        </p:blipFill>
        <p:spPr>
          <a:xfrm>
            <a:off x="9784080" y="1783080"/>
            <a:ext cx="1691640" cy="1691640"/>
          </a:xfrm>
          <a:prstGeom prst="rect">
            <a:avLst/>
          </a:prstGeom>
        </p:spPr>
      </p:pic>
      <p:sp>
        <p:nvSpPr>
          <p:cNvPr id="18" name="Text 14"/>
          <p:cNvSpPr txBox="1"/>
          <p:nvPr/>
        </p:nvSpPr>
        <p:spPr>
          <a:xfrm>
            <a:off x="9784080" y="3520440"/>
            <a:ext cx="1691640" cy="27432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Patches</a:t>
            </a:r>
            <a:endParaRPr lang="en-US" sz="1050" dirty="0"/>
          </a:p>
        </p:txBody>
      </p:sp>
      <p:sp>
        <p:nvSpPr>
          <p:cNvPr id="19" name="Shape 15"/>
          <p:cNvSpPr/>
          <p:nvPr/>
        </p:nvSpPr>
        <p:spPr>
          <a:xfrm>
            <a:off x="7763256" y="3694176"/>
            <a:ext cx="1801368" cy="1801368"/>
          </a:xfrm>
          <a:prstGeom prst="roundRect">
            <a:avLst>
              <a:gd name="adj" fmla="val 3046"/>
            </a:avLst>
          </a:prstGeom>
          <a:solidFill>
            <a:srgbClr val="232A33"/>
          </a:solidFill>
          <a:ln w="12700">
            <a:solidFill>
              <a:srgbClr val="2E3640"/>
            </a:solidFill>
            <a:prstDash val="solid"/>
          </a:ln>
        </p:spPr>
      </p:sp>
      <p:pic>
        <p:nvPicPr>
          <p:cNvPr id="20" name="Image 2" descr="/home/claude/steel/img/tile_crazing.png">    </p:cNvPr>
          <p:cNvPicPr>
            <a:picLocks noChangeAspect="1"/>
          </p:cNvPicPr>
          <p:nvPr/>
        </p:nvPicPr>
        <p:blipFill>
          <a:blip r:embed="rId4"/>
          <a:stretch>
            <a:fillRect/>
          </a:stretch>
        </p:blipFill>
        <p:spPr>
          <a:xfrm>
            <a:off x="7818120" y="3749040"/>
            <a:ext cx="1691640" cy="1691640"/>
          </a:xfrm>
          <a:prstGeom prst="rect">
            <a:avLst/>
          </a:prstGeom>
        </p:spPr>
      </p:pic>
      <p:sp>
        <p:nvSpPr>
          <p:cNvPr id="21" name="Text 16"/>
          <p:cNvSpPr txBox="1"/>
          <p:nvPr/>
        </p:nvSpPr>
        <p:spPr>
          <a:xfrm>
            <a:off x="7818120" y="5486400"/>
            <a:ext cx="1691640" cy="27432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Crazing</a:t>
            </a:r>
            <a:endParaRPr lang="en-US" sz="1050" dirty="0"/>
          </a:p>
        </p:txBody>
      </p:sp>
      <p:sp>
        <p:nvSpPr>
          <p:cNvPr id="22" name="Shape 17"/>
          <p:cNvSpPr/>
          <p:nvPr/>
        </p:nvSpPr>
        <p:spPr>
          <a:xfrm>
            <a:off x="9729216" y="3694176"/>
            <a:ext cx="1801368" cy="1801368"/>
          </a:xfrm>
          <a:prstGeom prst="roundRect">
            <a:avLst>
              <a:gd name="adj" fmla="val 3046"/>
            </a:avLst>
          </a:prstGeom>
          <a:solidFill>
            <a:srgbClr val="232A33"/>
          </a:solidFill>
          <a:ln w="12700">
            <a:solidFill>
              <a:srgbClr val="2E3640"/>
            </a:solidFill>
            <a:prstDash val="solid"/>
          </a:ln>
        </p:spPr>
      </p:sp>
      <p:pic>
        <p:nvPicPr>
          <p:cNvPr id="23" name="Image 3" descr="/home/claude/steel/img/tile_pitted.png">    </p:cNvPr>
          <p:cNvPicPr>
            <a:picLocks noChangeAspect="1"/>
          </p:cNvPicPr>
          <p:nvPr/>
        </p:nvPicPr>
        <p:blipFill>
          <a:blip r:embed="rId5"/>
          <a:stretch>
            <a:fillRect/>
          </a:stretch>
        </p:blipFill>
        <p:spPr>
          <a:xfrm>
            <a:off x="9784080" y="3749040"/>
            <a:ext cx="1691640" cy="1691640"/>
          </a:xfrm>
          <a:prstGeom prst="rect">
            <a:avLst/>
          </a:prstGeom>
        </p:spPr>
      </p:pic>
      <p:sp>
        <p:nvSpPr>
          <p:cNvPr id="24" name="Text 18"/>
          <p:cNvSpPr txBox="1"/>
          <p:nvPr/>
        </p:nvSpPr>
        <p:spPr>
          <a:xfrm>
            <a:off x="9784080" y="5486400"/>
            <a:ext cx="1691640" cy="27432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Pitted Surface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01  ·  THE PROBLEM</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Surface inspection is done by eye, one coil at a time</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02</a:t>
            </a:r>
            <a:endParaRPr lang="en-US" sz="950" dirty="0"/>
          </a:p>
        </p:txBody>
      </p:sp>
      <p:sp>
        <p:nvSpPr>
          <p:cNvPr id="7" name="Shape 5"/>
          <p:cNvSpPr/>
          <p:nvPr/>
        </p:nvSpPr>
        <p:spPr>
          <a:xfrm>
            <a:off x="548640" y="1691640"/>
            <a:ext cx="6583680" cy="1188720"/>
          </a:xfrm>
          <a:prstGeom prst="roundRect">
            <a:avLst>
              <a:gd name="adj" fmla="val 615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8" name="Shape 6"/>
          <p:cNvSpPr/>
          <p:nvPr/>
        </p:nvSpPr>
        <p:spPr>
          <a:xfrm>
            <a:off x="548640" y="1801368"/>
            <a:ext cx="41148" cy="969264"/>
          </a:xfrm>
          <a:prstGeom prst="rect">
            <a:avLst/>
          </a:prstGeom>
          <a:solidFill>
            <a:srgbClr val="E0A9A1"/>
          </a:solidFill>
          <a:ln w="12700">
            <a:solidFill>
              <a:srgbClr val="333333"/>
            </a:solidFill>
            <a:prstDash val="solid"/>
          </a:ln>
        </p:spPr>
      </p:sp>
      <p:sp>
        <p:nvSpPr>
          <p:cNvPr id="9" name="Shape 7"/>
          <p:cNvSpPr/>
          <p:nvPr/>
        </p:nvSpPr>
        <p:spPr>
          <a:xfrm>
            <a:off x="777240" y="1947672"/>
            <a:ext cx="685800" cy="685800"/>
          </a:xfrm>
          <a:prstGeom prst="roundRect">
            <a:avLst>
              <a:gd name="adj" fmla="val 29333"/>
            </a:avLst>
          </a:prstGeom>
          <a:solidFill>
            <a:srgbClr val="232A33"/>
          </a:solidFill>
          <a:ln w="12700">
            <a:solidFill>
              <a:srgbClr val="2E3640"/>
            </a:solidFill>
            <a:prstDash val="solid"/>
          </a:ln>
        </p:spPr>
      </p:sp>
      <p:pic>
        <p:nvPicPr>
          <p:cNvPr id="10" name="Image 0" descr="preencoded.png">    </p:cNvPr>
          <p:cNvPicPr>
            <a:picLocks noChangeAspect="1"/>
          </p:cNvPicPr>
          <p:nvPr/>
        </p:nvPicPr>
        <p:blipFill>
          <a:blip r:embed="rId2"/>
          <a:stretch>
            <a:fillRect/>
          </a:stretch>
        </p:blipFill>
        <p:spPr>
          <a:xfrm>
            <a:off x="941832" y="2112264"/>
            <a:ext cx="356616" cy="356616"/>
          </a:xfrm>
          <a:prstGeom prst="rect">
            <a:avLst/>
          </a:prstGeom>
        </p:spPr>
      </p:pic>
      <p:sp>
        <p:nvSpPr>
          <p:cNvPr id="11" name="Text 8"/>
          <p:cNvSpPr txBox="1"/>
          <p:nvPr/>
        </p:nvSpPr>
        <p:spPr>
          <a:xfrm>
            <a:off x="1627632" y="1892808"/>
            <a:ext cx="5349240" cy="320040"/>
          </a:xfrm>
          <a:prstGeom prst="rect">
            <a:avLst/>
          </a:prstGeom>
          <a:noFill/>
          <a:ln/>
        </p:spPr>
        <p:txBody>
          <a:bodyPr wrap="square" lIns="0" tIns="0" rIns="0" bIns="0" rtlCol="0" anchor="t"/>
          <a:lstStyle/>
          <a:p>
            <a:pPr indent="0" marL="0">
              <a:buNone/>
            </a:pPr>
            <a:r>
              <a:rPr lang="en-US" sz="1550" b="1" dirty="0">
                <a:solidFill>
                  <a:srgbClr val="E0A9A1"/>
                </a:solidFill>
                <a:latin typeface="Arial" pitchFamily="34" charset="0"/>
                <a:ea typeface="Arial" pitchFamily="34" charset="-122"/>
                <a:cs typeface="Arial" pitchFamily="34" charset="-120"/>
              </a:rPr>
              <a:t>Human inspection is inconsistent</a:t>
            </a:r>
            <a:endParaRPr lang="en-US" sz="1550" dirty="0"/>
          </a:p>
        </p:txBody>
      </p:sp>
      <p:sp>
        <p:nvSpPr>
          <p:cNvPr id="12" name="Text 9"/>
          <p:cNvSpPr txBox="1"/>
          <p:nvPr/>
        </p:nvSpPr>
        <p:spPr>
          <a:xfrm>
            <a:off x="1627632" y="2240280"/>
            <a:ext cx="5349240" cy="548640"/>
          </a:xfrm>
          <a:prstGeom prst="rect">
            <a:avLst/>
          </a:prstGeom>
          <a:noFill/>
          <a:ln/>
        </p:spPr>
        <p:txBody>
          <a:bodyPr wrap="square" lIns="0" tIns="0" rIns="0" bIns="0" rtlCol="0" anchor="t"/>
          <a:lstStyle/>
          <a:p>
            <a:pPr indent="0" marL="0">
              <a:buNone/>
            </a:pPr>
            <a:r>
              <a:rPr lang="en-US" sz="1300" dirty="0">
                <a:solidFill>
                  <a:srgbClr val="ECEFF3"/>
                </a:solidFill>
                <a:latin typeface="Calibri" pitchFamily="34" charset="0"/>
                <a:ea typeface="Calibri" pitchFamily="34" charset="-122"/>
                <a:cs typeface="Calibri" pitchFamily="34" charset="-120"/>
              </a:rPr>
              <a:t>Quality inspectors judge surfaces visually, often on night shifts. Fatigue and subjectivity cause misses and disagreement.</a:t>
            </a:r>
            <a:endParaRPr lang="en-US" sz="1300" dirty="0"/>
          </a:p>
        </p:txBody>
      </p:sp>
      <p:sp>
        <p:nvSpPr>
          <p:cNvPr id="13" name="Shape 10"/>
          <p:cNvSpPr/>
          <p:nvPr/>
        </p:nvSpPr>
        <p:spPr>
          <a:xfrm>
            <a:off x="548640" y="3063240"/>
            <a:ext cx="6583680" cy="1188720"/>
          </a:xfrm>
          <a:prstGeom prst="roundRect">
            <a:avLst>
              <a:gd name="adj" fmla="val 615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4" name="Shape 11"/>
          <p:cNvSpPr/>
          <p:nvPr/>
        </p:nvSpPr>
        <p:spPr>
          <a:xfrm>
            <a:off x="548640" y="3172968"/>
            <a:ext cx="41148" cy="969264"/>
          </a:xfrm>
          <a:prstGeom prst="rect">
            <a:avLst/>
          </a:prstGeom>
          <a:solidFill>
            <a:srgbClr val="E3C79A"/>
          </a:solidFill>
          <a:ln w="12700">
            <a:solidFill>
              <a:srgbClr val="333333"/>
            </a:solidFill>
            <a:prstDash val="solid"/>
          </a:ln>
        </p:spPr>
      </p:sp>
      <p:sp>
        <p:nvSpPr>
          <p:cNvPr id="15" name="Shape 12"/>
          <p:cNvSpPr/>
          <p:nvPr/>
        </p:nvSpPr>
        <p:spPr>
          <a:xfrm>
            <a:off x="777240" y="3319272"/>
            <a:ext cx="685800" cy="685800"/>
          </a:xfrm>
          <a:prstGeom prst="roundRect">
            <a:avLst>
              <a:gd name="adj" fmla="val 29333"/>
            </a:avLst>
          </a:prstGeom>
          <a:solidFill>
            <a:srgbClr val="232A33"/>
          </a:solidFill>
          <a:ln w="12700">
            <a:solidFill>
              <a:srgbClr val="2E3640"/>
            </a:solidFill>
            <a:prstDash val="solid"/>
          </a:ln>
        </p:spPr>
      </p:sp>
      <p:pic>
        <p:nvPicPr>
          <p:cNvPr id="16" name="Image 1" descr="preencoded.png">    </p:cNvPr>
          <p:cNvPicPr>
            <a:picLocks noChangeAspect="1"/>
          </p:cNvPicPr>
          <p:nvPr/>
        </p:nvPicPr>
        <p:blipFill>
          <a:blip r:embed="rId3"/>
          <a:stretch>
            <a:fillRect/>
          </a:stretch>
        </p:blipFill>
        <p:spPr>
          <a:xfrm>
            <a:off x="941832" y="3483864"/>
            <a:ext cx="356616" cy="356616"/>
          </a:xfrm>
          <a:prstGeom prst="rect">
            <a:avLst/>
          </a:prstGeom>
        </p:spPr>
      </p:pic>
      <p:sp>
        <p:nvSpPr>
          <p:cNvPr id="17" name="Text 13"/>
          <p:cNvSpPr txBox="1"/>
          <p:nvPr/>
        </p:nvSpPr>
        <p:spPr>
          <a:xfrm>
            <a:off x="1627632" y="3264408"/>
            <a:ext cx="5349240" cy="320040"/>
          </a:xfrm>
          <a:prstGeom prst="rect">
            <a:avLst/>
          </a:prstGeom>
          <a:noFill/>
          <a:ln/>
        </p:spPr>
        <p:txBody>
          <a:bodyPr wrap="square" lIns="0" tIns="0" rIns="0" bIns="0" rtlCol="0" anchor="t"/>
          <a:lstStyle/>
          <a:p>
            <a:pPr indent="0" marL="0">
              <a:buNone/>
            </a:pPr>
            <a:r>
              <a:rPr lang="en-US" sz="1550" b="1" dirty="0">
                <a:solidFill>
                  <a:srgbClr val="E3C79A"/>
                </a:solidFill>
                <a:latin typeface="Arial" pitchFamily="34" charset="0"/>
                <a:ea typeface="Arial" pitchFamily="34" charset="-122"/>
                <a:cs typeface="Arial" pitchFamily="34" charset="-120"/>
              </a:rPr>
              <a:t>The defect type drives the action</a:t>
            </a:r>
            <a:endParaRPr lang="en-US" sz="1550" dirty="0"/>
          </a:p>
        </p:txBody>
      </p:sp>
      <p:sp>
        <p:nvSpPr>
          <p:cNvPr id="18" name="Text 14"/>
          <p:cNvSpPr txBox="1"/>
          <p:nvPr/>
        </p:nvSpPr>
        <p:spPr>
          <a:xfrm>
            <a:off x="1627632" y="3611880"/>
            <a:ext cx="5349240" cy="548640"/>
          </a:xfrm>
          <a:prstGeom prst="rect">
            <a:avLst/>
          </a:prstGeom>
          <a:noFill/>
          <a:ln/>
        </p:spPr>
        <p:txBody>
          <a:bodyPr wrap="square" lIns="0" tIns="0" rIns="0" bIns="0" rtlCol="0" anchor="t"/>
          <a:lstStyle/>
          <a:p>
            <a:pPr indent="0" marL="0">
              <a:buNone/>
            </a:pPr>
            <a:r>
              <a:rPr lang="en-US" sz="1300" dirty="0">
                <a:solidFill>
                  <a:srgbClr val="ECEFF3"/>
                </a:solidFill>
                <a:latin typeface="Calibri" pitchFamily="34" charset="0"/>
                <a:ea typeface="Calibri" pitchFamily="34" charset="-122"/>
                <a:cs typeface="Calibri" pitchFamily="34" charset="-120"/>
              </a:rPr>
              <a:t>Scrap, downgrade, re-roll or adjust the line: each defect points to a different cause and a different response.</a:t>
            </a:r>
            <a:endParaRPr lang="en-US" sz="1300" dirty="0"/>
          </a:p>
        </p:txBody>
      </p:sp>
      <p:sp>
        <p:nvSpPr>
          <p:cNvPr id="19" name="Shape 15"/>
          <p:cNvSpPr/>
          <p:nvPr/>
        </p:nvSpPr>
        <p:spPr>
          <a:xfrm>
            <a:off x="548640" y="4434840"/>
            <a:ext cx="6583680" cy="1188720"/>
          </a:xfrm>
          <a:prstGeom prst="roundRect">
            <a:avLst>
              <a:gd name="adj" fmla="val 615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0" name="Shape 16"/>
          <p:cNvSpPr/>
          <p:nvPr/>
        </p:nvSpPr>
        <p:spPr>
          <a:xfrm>
            <a:off x="548640" y="4544568"/>
            <a:ext cx="41148" cy="969264"/>
          </a:xfrm>
          <a:prstGeom prst="rect">
            <a:avLst/>
          </a:prstGeom>
          <a:solidFill>
            <a:srgbClr val="9DB8D9"/>
          </a:solidFill>
          <a:ln w="12700">
            <a:solidFill>
              <a:srgbClr val="333333"/>
            </a:solidFill>
            <a:prstDash val="solid"/>
          </a:ln>
        </p:spPr>
      </p:sp>
      <p:sp>
        <p:nvSpPr>
          <p:cNvPr id="21" name="Shape 17"/>
          <p:cNvSpPr/>
          <p:nvPr/>
        </p:nvSpPr>
        <p:spPr>
          <a:xfrm>
            <a:off x="777240" y="4690872"/>
            <a:ext cx="685800" cy="685800"/>
          </a:xfrm>
          <a:prstGeom prst="roundRect">
            <a:avLst>
              <a:gd name="adj" fmla="val 29333"/>
            </a:avLst>
          </a:prstGeom>
          <a:solidFill>
            <a:srgbClr val="232A33"/>
          </a:solidFill>
          <a:ln w="12700">
            <a:solidFill>
              <a:srgbClr val="2E3640"/>
            </a:solidFill>
            <a:prstDash val="solid"/>
          </a:ln>
        </p:spPr>
      </p:sp>
      <p:pic>
        <p:nvPicPr>
          <p:cNvPr id="22" name="Image 2" descr="preencoded.png">    </p:cNvPr>
          <p:cNvPicPr>
            <a:picLocks noChangeAspect="1"/>
          </p:cNvPicPr>
          <p:nvPr/>
        </p:nvPicPr>
        <p:blipFill>
          <a:blip r:embed="rId4"/>
          <a:stretch>
            <a:fillRect/>
          </a:stretch>
        </p:blipFill>
        <p:spPr>
          <a:xfrm>
            <a:off x="941832" y="4855464"/>
            <a:ext cx="356616" cy="356616"/>
          </a:xfrm>
          <a:prstGeom prst="rect">
            <a:avLst/>
          </a:prstGeom>
        </p:spPr>
      </p:pic>
      <p:sp>
        <p:nvSpPr>
          <p:cNvPr id="23" name="Text 18"/>
          <p:cNvSpPr txBox="1"/>
          <p:nvPr/>
        </p:nvSpPr>
        <p:spPr>
          <a:xfrm>
            <a:off x="1627632" y="4636008"/>
            <a:ext cx="5349240" cy="320040"/>
          </a:xfrm>
          <a:prstGeom prst="rect">
            <a:avLst/>
          </a:prstGeom>
          <a:noFill/>
          <a:ln/>
        </p:spPr>
        <p:txBody>
          <a:bodyPr wrap="square" lIns="0" tIns="0" rIns="0" bIns="0" rtlCol="0" anchor="t"/>
          <a:lstStyle/>
          <a:p>
            <a:pPr indent="0" marL="0">
              <a:buNone/>
            </a:pPr>
            <a:r>
              <a:rPr lang="en-US" sz="1550" b="1" dirty="0">
                <a:solidFill>
                  <a:srgbClr val="9DB8D9"/>
                </a:solidFill>
                <a:latin typeface="Arial" pitchFamily="34" charset="0"/>
                <a:ea typeface="Arial" pitchFamily="34" charset="-122"/>
                <a:cs typeface="Arial" pitchFamily="34" charset="-120"/>
              </a:rPr>
              <a:t>What we built</a:t>
            </a:r>
            <a:endParaRPr lang="en-US" sz="1550" dirty="0"/>
          </a:p>
        </p:txBody>
      </p:sp>
      <p:sp>
        <p:nvSpPr>
          <p:cNvPr id="24" name="Text 19"/>
          <p:cNvSpPr txBox="1"/>
          <p:nvPr/>
        </p:nvSpPr>
        <p:spPr>
          <a:xfrm>
            <a:off x="1627632" y="4983480"/>
            <a:ext cx="5349240" cy="548640"/>
          </a:xfrm>
          <a:prstGeom prst="rect">
            <a:avLst/>
          </a:prstGeom>
          <a:noFill/>
          <a:ln/>
        </p:spPr>
        <p:txBody>
          <a:bodyPr wrap="square" lIns="0" tIns="0" rIns="0" bIns="0" rtlCol="0" anchor="t"/>
          <a:lstStyle/>
          <a:p>
            <a:pPr indent="0" marL="0">
              <a:buNone/>
            </a:pPr>
            <a:r>
              <a:rPr lang="en-US" sz="1300" dirty="0">
                <a:solidFill>
                  <a:srgbClr val="ECEFF3"/>
                </a:solidFill>
                <a:latin typeface="Calibri" pitchFamily="34" charset="0"/>
                <a:ea typeface="Calibri" pitchFamily="34" charset="-122"/>
                <a:cs typeface="Calibri" pitchFamily="34" charset="-120"/>
              </a:rPr>
              <a:t>A model that takes one grayscale surface image and names which of six defect types it shows, with a confidence score.</a:t>
            </a:r>
            <a:endParaRPr lang="en-US" sz="1300" dirty="0"/>
          </a:p>
        </p:txBody>
      </p:sp>
      <p:sp>
        <p:nvSpPr>
          <p:cNvPr id="25" name="Shape 20"/>
          <p:cNvSpPr/>
          <p:nvPr/>
        </p:nvSpPr>
        <p:spPr>
          <a:xfrm>
            <a:off x="7498080" y="1691640"/>
            <a:ext cx="4142232" cy="868680"/>
          </a:xfrm>
          <a:prstGeom prst="roundRect">
            <a:avLst>
              <a:gd name="adj" fmla="val 8421"/>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6" name="Text 21"/>
          <p:cNvSpPr txBox="1"/>
          <p:nvPr/>
        </p:nvSpPr>
        <p:spPr>
          <a:xfrm>
            <a:off x="7772400" y="1783080"/>
            <a:ext cx="1828800" cy="685800"/>
          </a:xfrm>
          <a:prstGeom prst="rect">
            <a:avLst/>
          </a:prstGeom>
          <a:noFill/>
          <a:ln/>
        </p:spPr>
        <p:txBody>
          <a:bodyPr wrap="square" lIns="0" tIns="0" rIns="0" bIns="0" rtlCol="0" anchor="ctr"/>
          <a:lstStyle/>
          <a:p>
            <a:pPr indent="0" marL="0">
              <a:buNone/>
            </a:pPr>
            <a:r>
              <a:rPr lang="en-US" sz="2600" b="1" dirty="0">
                <a:solidFill>
                  <a:srgbClr val="ECEFF3"/>
                </a:solidFill>
                <a:latin typeface="Arial" pitchFamily="34" charset="0"/>
                <a:ea typeface="Arial" pitchFamily="34" charset="-122"/>
                <a:cs typeface="Arial" pitchFamily="34" charset="-120"/>
              </a:rPr>
              <a:t>1,800</a:t>
            </a:r>
            <a:endParaRPr lang="en-US" sz="2600" dirty="0"/>
          </a:p>
        </p:txBody>
      </p:sp>
      <p:sp>
        <p:nvSpPr>
          <p:cNvPr id="27" name="Text 22"/>
          <p:cNvSpPr txBox="1"/>
          <p:nvPr/>
        </p:nvSpPr>
        <p:spPr>
          <a:xfrm>
            <a:off x="9601200" y="1783080"/>
            <a:ext cx="1783080" cy="685800"/>
          </a:xfrm>
          <a:prstGeom prst="rect">
            <a:avLst/>
          </a:prstGeom>
          <a:noFill/>
          <a:ln/>
        </p:spPr>
        <p:txBody>
          <a:bodyPr wrap="square" lIns="0" tIns="0" rIns="0" bIns="0" rtlCol="0" anchor="ctr"/>
          <a:lstStyle/>
          <a:p>
            <a:pPr algn="r" indent="0" marL="0">
              <a:buNone/>
            </a:pPr>
            <a:r>
              <a:rPr lang="en-US" sz="1300" dirty="0">
                <a:solidFill>
                  <a:srgbClr val="98A2B0"/>
                </a:solidFill>
                <a:latin typeface="Calibri" pitchFamily="34" charset="0"/>
                <a:ea typeface="Calibri" pitchFamily="34" charset="-122"/>
                <a:cs typeface="Calibri" pitchFamily="34" charset="-120"/>
              </a:rPr>
              <a:t>images</a:t>
            </a:r>
            <a:endParaRPr lang="en-US" sz="1300" dirty="0"/>
          </a:p>
        </p:txBody>
      </p:sp>
      <p:sp>
        <p:nvSpPr>
          <p:cNvPr id="28" name="Shape 23"/>
          <p:cNvSpPr/>
          <p:nvPr/>
        </p:nvSpPr>
        <p:spPr>
          <a:xfrm>
            <a:off x="7498080" y="2715768"/>
            <a:ext cx="4142232" cy="868680"/>
          </a:xfrm>
          <a:prstGeom prst="roundRect">
            <a:avLst>
              <a:gd name="adj" fmla="val 8421"/>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9" name="Text 24"/>
          <p:cNvSpPr txBox="1"/>
          <p:nvPr/>
        </p:nvSpPr>
        <p:spPr>
          <a:xfrm>
            <a:off x="7772400" y="2807208"/>
            <a:ext cx="1828800" cy="685800"/>
          </a:xfrm>
          <a:prstGeom prst="rect">
            <a:avLst/>
          </a:prstGeom>
          <a:noFill/>
          <a:ln/>
        </p:spPr>
        <p:txBody>
          <a:bodyPr wrap="square" lIns="0" tIns="0" rIns="0" bIns="0" rtlCol="0" anchor="ctr"/>
          <a:lstStyle/>
          <a:p>
            <a:pPr indent="0" marL="0">
              <a:buNone/>
            </a:pPr>
            <a:r>
              <a:rPr lang="en-US" sz="2600" b="1" dirty="0">
                <a:solidFill>
                  <a:srgbClr val="ECEFF3"/>
                </a:solidFill>
                <a:latin typeface="Arial" pitchFamily="34" charset="0"/>
                <a:ea typeface="Arial" pitchFamily="34" charset="-122"/>
                <a:cs typeface="Arial" pitchFamily="34" charset="-120"/>
              </a:rPr>
              <a:t>6</a:t>
            </a:r>
            <a:endParaRPr lang="en-US" sz="2600" dirty="0"/>
          </a:p>
        </p:txBody>
      </p:sp>
      <p:sp>
        <p:nvSpPr>
          <p:cNvPr id="30" name="Text 25"/>
          <p:cNvSpPr txBox="1"/>
          <p:nvPr/>
        </p:nvSpPr>
        <p:spPr>
          <a:xfrm>
            <a:off x="9601200" y="2807208"/>
            <a:ext cx="1783080" cy="685800"/>
          </a:xfrm>
          <a:prstGeom prst="rect">
            <a:avLst/>
          </a:prstGeom>
          <a:noFill/>
          <a:ln/>
        </p:spPr>
        <p:txBody>
          <a:bodyPr wrap="square" lIns="0" tIns="0" rIns="0" bIns="0" rtlCol="0" anchor="ctr"/>
          <a:lstStyle/>
          <a:p>
            <a:pPr algn="r" indent="0" marL="0">
              <a:buNone/>
            </a:pPr>
            <a:r>
              <a:rPr lang="en-US" sz="1300" dirty="0">
                <a:solidFill>
                  <a:srgbClr val="98A2B0"/>
                </a:solidFill>
                <a:latin typeface="Calibri" pitchFamily="34" charset="0"/>
                <a:ea typeface="Calibri" pitchFamily="34" charset="-122"/>
                <a:cs typeface="Calibri" pitchFamily="34" charset="-120"/>
              </a:rPr>
              <a:t>defect types</a:t>
            </a:r>
            <a:endParaRPr lang="en-US" sz="1300" dirty="0"/>
          </a:p>
        </p:txBody>
      </p:sp>
      <p:sp>
        <p:nvSpPr>
          <p:cNvPr id="31" name="Shape 26"/>
          <p:cNvSpPr/>
          <p:nvPr/>
        </p:nvSpPr>
        <p:spPr>
          <a:xfrm>
            <a:off x="7498080" y="3739896"/>
            <a:ext cx="4142232" cy="868680"/>
          </a:xfrm>
          <a:prstGeom prst="roundRect">
            <a:avLst>
              <a:gd name="adj" fmla="val 8421"/>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32" name="Text 27"/>
          <p:cNvSpPr txBox="1"/>
          <p:nvPr/>
        </p:nvSpPr>
        <p:spPr>
          <a:xfrm>
            <a:off x="7772400" y="3831336"/>
            <a:ext cx="1828800" cy="685800"/>
          </a:xfrm>
          <a:prstGeom prst="rect">
            <a:avLst/>
          </a:prstGeom>
          <a:noFill/>
          <a:ln/>
        </p:spPr>
        <p:txBody>
          <a:bodyPr wrap="square" lIns="0" tIns="0" rIns="0" bIns="0" rtlCol="0" anchor="ctr"/>
          <a:lstStyle/>
          <a:p>
            <a:pPr indent="0" marL="0">
              <a:buNone/>
            </a:pPr>
            <a:r>
              <a:rPr lang="en-US" sz="2600" b="1" dirty="0">
                <a:solidFill>
                  <a:srgbClr val="ECEFF3"/>
                </a:solidFill>
                <a:latin typeface="Arial" pitchFamily="34" charset="0"/>
                <a:ea typeface="Arial" pitchFamily="34" charset="-122"/>
                <a:cs typeface="Arial" pitchFamily="34" charset="-120"/>
              </a:rPr>
              <a:t>200 × 200</a:t>
            </a:r>
            <a:endParaRPr lang="en-US" sz="2600" dirty="0"/>
          </a:p>
        </p:txBody>
      </p:sp>
      <p:sp>
        <p:nvSpPr>
          <p:cNvPr id="33" name="Text 28"/>
          <p:cNvSpPr txBox="1"/>
          <p:nvPr/>
        </p:nvSpPr>
        <p:spPr>
          <a:xfrm>
            <a:off x="9601200" y="3831336"/>
            <a:ext cx="1783080" cy="685800"/>
          </a:xfrm>
          <a:prstGeom prst="rect">
            <a:avLst/>
          </a:prstGeom>
          <a:noFill/>
          <a:ln/>
        </p:spPr>
        <p:txBody>
          <a:bodyPr wrap="square" lIns="0" tIns="0" rIns="0" bIns="0" rtlCol="0" anchor="ctr"/>
          <a:lstStyle/>
          <a:p>
            <a:pPr algn="r" indent="0" marL="0">
              <a:buNone/>
            </a:pPr>
            <a:r>
              <a:rPr lang="en-US" sz="1300" dirty="0">
                <a:solidFill>
                  <a:srgbClr val="98A2B0"/>
                </a:solidFill>
                <a:latin typeface="Calibri" pitchFamily="34" charset="0"/>
                <a:ea typeface="Calibri" pitchFamily="34" charset="-122"/>
                <a:cs typeface="Calibri" pitchFamily="34" charset="-120"/>
              </a:rPr>
              <a:t>pixels, grayscale</a:t>
            </a:r>
            <a:endParaRPr lang="en-US" sz="1300" dirty="0"/>
          </a:p>
        </p:txBody>
      </p:sp>
      <p:sp>
        <p:nvSpPr>
          <p:cNvPr id="34" name="Shape 29"/>
          <p:cNvSpPr/>
          <p:nvPr/>
        </p:nvSpPr>
        <p:spPr>
          <a:xfrm>
            <a:off x="7498080" y="4764024"/>
            <a:ext cx="4142232" cy="868680"/>
          </a:xfrm>
          <a:prstGeom prst="roundRect">
            <a:avLst>
              <a:gd name="adj" fmla="val 8421"/>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35" name="Text 30"/>
          <p:cNvSpPr txBox="1"/>
          <p:nvPr/>
        </p:nvSpPr>
        <p:spPr>
          <a:xfrm>
            <a:off x="7772400" y="4855464"/>
            <a:ext cx="1828800" cy="685800"/>
          </a:xfrm>
          <a:prstGeom prst="rect">
            <a:avLst/>
          </a:prstGeom>
          <a:noFill/>
          <a:ln/>
        </p:spPr>
        <p:txBody>
          <a:bodyPr wrap="square" lIns="0" tIns="0" rIns="0" bIns="0" rtlCol="0" anchor="ctr"/>
          <a:lstStyle/>
          <a:p>
            <a:pPr indent="0" marL="0">
              <a:buNone/>
            </a:pPr>
            <a:r>
              <a:rPr lang="en-US" sz="2600" b="1" dirty="0">
                <a:solidFill>
                  <a:srgbClr val="ECEFF3"/>
                </a:solidFill>
                <a:latin typeface="Arial" pitchFamily="34" charset="0"/>
                <a:ea typeface="Arial" pitchFamily="34" charset="-122"/>
                <a:cs typeface="Arial" pitchFamily="34" charset="-120"/>
              </a:rPr>
              <a:t>300</a:t>
            </a:r>
            <a:endParaRPr lang="en-US" sz="2600" dirty="0"/>
          </a:p>
        </p:txBody>
      </p:sp>
      <p:sp>
        <p:nvSpPr>
          <p:cNvPr id="36" name="Text 31"/>
          <p:cNvSpPr txBox="1"/>
          <p:nvPr/>
        </p:nvSpPr>
        <p:spPr>
          <a:xfrm>
            <a:off x="9601200" y="4855464"/>
            <a:ext cx="1783080" cy="685800"/>
          </a:xfrm>
          <a:prstGeom prst="rect">
            <a:avLst/>
          </a:prstGeom>
          <a:noFill/>
          <a:ln/>
        </p:spPr>
        <p:txBody>
          <a:bodyPr wrap="square" lIns="0" tIns="0" rIns="0" bIns="0" rtlCol="0" anchor="ctr"/>
          <a:lstStyle/>
          <a:p>
            <a:pPr algn="r" indent="0" marL="0">
              <a:buNone/>
            </a:pPr>
            <a:r>
              <a:rPr lang="en-US" sz="1300" dirty="0">
                <a:solidFill>
                  <a:srgbClr val="98A2B0"/>
                </a:solidFill>
                <a:latin typeface="Calibri" pitchFamily="34" charset="0"/>
                <a:ea typeface="Calibri" pitchFamily="34" charset="-122"/>
                <a:cs typeface="Calibri" pitchFamily="34" charset="-120"/>
              </a:rPr>
              <a:t>images per class</a:t>
            </a:r>
            <a:endParaRPr lang="en-US" sz="1300" dirty="0"/>
          </a:p>
        </p:txBody>
      </p:sp>
      <p:sp>
        <p:nvSpPr>
          <p:cNvPr id="37" name="Text 32"/>
          <p:cNvSpPr txBox="1"/>
          <p:nvPr/>
        </p:nvSpPr>
        <p:spPr>
          <a:xfrm>
            <a:off x="7498080" y="5897880"/>
            <a:ext cx="4142232" cy="457200"/>
          </a:xfrm>
          <a:prstGeom prst="rect">
            <a:avLst/>
          </a:prstGeom>
          <a:noFill/>
          <a:ln/>
        </p:spPr>
        <p:txBody>
          <a:bodyPr wrap="square" lIns="0" tIns="0" rIns="0" bIns="0" rtlCol="0" anchor="t"/>
          <a:lstStyle/>
          <a:p>
            <a:pPr indent="0" marL="0">
              <a:buNone/>
            </a:pPr>
            <a:r>
              <a:rPr lang="en-US" sz="1150" i="1" dirty="0">
                <a:solidFill>
                  <a:srgbClr val="98A2B0"/>
                </a:solidFill>
                <a:latin typeface="Calibri" pitchFamily="34" charset="0"/>
                <a:ea typeface="Calibri" pitchFamily="34" charset="-122"/>
                <a:cs typeface="Calibri" pitchFamily="34" charset="-120"/>
              </a:rPr>
              <a:t>NEU-DET: hot-rolled steel strip surfaces, captured under controlled lighting by Northeastern University.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02  ·  THE DATA</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Six defects, 300 images each, perfectly balanced</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03</a:t>
            </a:r>
            <a:endParaRPr lang="en-US" sz="950" dirty="0"/>
          </a:p>
        </p:txBody>
      </p:sp>
      <p:sp>
        <p:nvSpPr>
          <p:cNvPr id="7" name="Shape 5"/>
          <p:cNvSpPr/>
          <p:nvPr/>
        </p:nvSpPr>
        <p:spPr>
          <a:xfrm>
            <a:off x="548640" y="1691640"/>
            <a:ext cx="2103120" cy="2057400"/>
          </a:xfrm>
          <a:prstGeom prst="roundRect">
            <a:avLst>
              <a:gd name="adj" fmla="val 355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pic>
        <p:nvPicPr>
          <p:cNvPr id="8" name="Image 0" descr="/home/claude/steel/img/tile_crazing.png">    </p:cNvPr>
          <p:cNvPicPr>
            <a:picLocks noChangeAspect="1"/>
          </p:cNvPicPr>
          <p:nvPr/>
        </p:nvPicPr>
        <p:blipFill>
          <a:blip r:embed="rId2"/>
          <a:stretch>
            <a:fillRect/>
          </a:stretch>
        </p:blipFill>
        <p:spPr>
          <a:xfrm>
            <a:off x="676656" y="1819656"/>
            <a:ext cx="1188720" cy="1188720"/>
          </a:xfrm>
          <a:prstGeom prst="rect">
            <a:avLst/>
          </a:prstGeom>
        </p:spPr>
      </p:pic>
      <p:sp>
        <p:nvSpPr>
          <p:cNvPr id="9" name="Text 6"/>
          <p:cNvSpPr txBox="1"/>
          <p:nvPr/>
        </p:nvSpPr>
        <p:spPr>
          <a:xfrm>
            <a:off x="676656" y="3081528"/>
            <a:ext cx="1847088" cy="274320"/>
          </a:xfrm>
          <a:prstGeom prst="rect">
            <a:avLst/>
          </a:prstGeom>
          <a:noFill/>
          <a:ln/>
        </p:spPr>
        <p:txBody>
          <a:bodyPr wrap="square" lIns="0" tIns="0" rIns="0" bIns="0" rtlCol="0" anchor="t"/>
          <a:lstStyle/>
          <a:p>
            <a:pPr indent="0" marL="0">
              <a:buNone/>
            </a:pPr>
            <a:r>
              <a:rPr lang="en-US" sz="1300" b="1" dirty="0">
                <a:solidFill>
                  <a:srgbClr val="E0A9A1"/>
                </a:solidFill>
                <a:latin typeface="Arial" pitchFamily="34" charset="0"/>
                <a:ea typeface="Arial" pitchFamily="34" charset="-122"/>
                <a:cs typeface="Arial" pitchFamily="34" charset="-120"/>
              </a:rPr>
              <a:t>Crazing</a:t>
            </a:r>
            <a:endParaRPr lang="en-US" sz="1300" dirty="0"/>
          </a:p>
        </p:txBody>
      </p:sp>
      <p:sp>
        <p:nvSpPr>
          <p:cNvPr id="10" name="Text 7"/>
          <p:cNvSpPr txBox="1"/>
          <p:nvPr/>
        </p:nvSpPr>
        <p:spPr>
          <a:xfrm>
            <a:off x="676656" y="3355848"/>
            <a:ext cx="1847088" cy="32004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Network of fine hairline cracks</a:t>
            </a:r>
            <a:endParaRPr lang="en-US" sz="1050" dirty="0"/>
          </a:p>
        </p:txBody>
      </p:sp>
      <p:sp>
        <p:nvSpPr>
          <p:cNvPr id="11" name="Shape 8"/>
          <p:cNvSpPr/>
          <p:nvPr/>
        </p:nvSpPr>
        <p:spPr>
          <a:xfrm>
            <a:off x="2880360" y="1691640"/>
            <a:ext cx="2103120" cy="2057400"/>
          </a:xfrm>
          <a:prstGeom prst="roundRect">
            <a:avLst>
              <a:gd name="adj" fmla="val 355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pic>
        <p:nvPicPr>
          <p:cNvPr id="12" name="Image 1" descr="/home/claude/steel/img/tile_inclusion.png">    </p:cNvPr>
          <p:cNvPicPr>
            <a:picLocks noChangeAspect="1"/>
          </p:cNvPicPr>
          <p:nvPr/>
        </p:nvPicPr>
        <p:blipFill>
          <a:blip r:embed="rId3"/>
          <a:stretch>
            <a:fillRect/>
          </a:stretch>
        </p:blipFill>
        <p:spPr>
          <a:xfrm>
            <a:off x="3008376" y="1819656"/>
            <a:ext cx="1188720" cy="1188720"/>
          </a:xfrm>
          <a:prstGeom prst="rect">
            <a:avLst/>
          </a:prstGeom>
        </p:spPr>
      </p:pic>
      <p:sp>
        <p:nvSpPr>
          <p:cNvPr id="13" name="Text 9"/>
          <p:cNvSpPr txBox="1"/>
          <p:nvPr/>
        </p:nvSpPr>
        <p:spPr>
          <a:xfrm>
            <a:off x="3008376" y="3081528"/>
            <a:ext cx="1847088" cy="274320"/>
          </a:xfrm>
          <a:prstGeom prst="rect">
            <a:avLst/>
          </a:prstGeom>
          <a:noFill/>
          <a:ln/>
        </p:spPr>
        <p:txBody>
          <a:bodyPr wrap="square" lIns="0" tIns="0" rIns="0" bIns="0" rtlCol="0" anchor="t"/>
          <a:lstStyle/>
          <a:p>
            <a:pPr indent="0" marL="0">
              <a:buNone/>
            </a:pPr>
            <a:r>
              <a:rPr lang="en-US" sz="1300" b="1" dirty="0">
                <a:solidFill>
                  <a:srgbClr val="9DB8D9"/>
                </a:solidFill>
                <a:latin typeface="Arial" pitchFamily="34" charset="0"/>
                <a:ea typeface="Arial" pitchFamily="34" charset="-122"/>
                <a:cs typeface="Arial" pitchFamily="34" charset="-120"/>
              </a:rPr>
              <a:t>Inclusion</a:t>
            </a:r>
            <a:endParaRPr lang="en-US" sz="1300" dirty="0"/>
          </a:p>
        </p:txBody>
      </p:sp>
      <p:sp>
        <p:nvSpPr>
          <p:cNvPr id="14" name="Text 10"/>
          <p:cNvSpPr txBox="1"/>
          <p:nvPr/>
        </p:nvSpPr>
        <p:spPr>
          <a:xfrm>
            <a:off x="3008376" y="3355848"/>
            <a:ext cx="1847088" cy="32004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Foreign material rolled into the steel</a:t>
            </a:r>
            <a:endParaRPr lang="en-US" sz="1050" dirty="0"/>
          </a:p>
        </p:txBody>
      </p:sp>
      <p:sp>
        <p:nvSpPr>
          <p:cNvPr id="15" name="Shape 11"/>
          <p:cNvSpPr/>
          <p:nvPr/>
        </p:nvSpPr>
        <p:spPr>
          <a:xfrm>
            <a:off x="5212080" y="1691640"/>
            <a:ext cx="2103120" cy="2057400"/>
          </a:xfrm>
          <a:prstGeom prst="roundRect">
            <a:avLst>
              <a:gd name="adj" fmla="val 355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pic>
        <p:nvPicPr>
          <p:cNvPr id="16" name="Image 2" descr="/home/claude/steel/img/tile_patches.png">    </p:cNvPr>
          <p:cNvPicPr>
            <a:picLocks noChangeAspect="1"/>
          </p:cNvPicPr>
          <p:nvPr/>
        </p:nvPicPr>
        <p:blipFill>
          <a:blip r:embed="rId4"/>
          <a:stretch>
            <a:fillRect/>
          </a:stretch>
        </p:blipFill>
        <p:spPr>
          <a:xfrm>
            <a:off x="5340096" y="1819656"/>
            <a:ext cx="1188720" cy="1188720"/>
          </a:xfrm>
          <a:prstGeom prst="rect">
            <a:avLst/>
          </a:prstGeom>
        </p:spPr>
      </p:pic>
      <p:sp>
        <p:nvSpPr>
          <p:cNvPr id="17" name="Text 12"/>
          <p:cNvSpPr txBox="1"/>
          <p:nvPr/>
        </p:nvSpPr>
        <p:spPr>
          <a:xfrm>
            <a:off x="5340096" y="3081528"/>
            <a:ext cx="1847088" cy="274320"/>
          </a:xfrm>
          <a:prstGeom prst="rect">
            <a:avLst/>
          </a:prstGeom>
          <a:noFill/>
          <a:ln/>
        </p:spPr>
        <p:txBody>
          <a:bodyPr wrap="square" lIns="0" tIns="0" rIns="0" bIns="0" rtlCol="0" anchor="t"/>
          <a:lstStyle/>
          <a:p>
            <a:pPr indent="0" marL="0">
              <a:buNone/>
            </a:pPr>
            <a:r>
              <a:rPr lang="en-US" sz="1300" b="1" dirty="0">
                <a:solidFill>
                  <a:srgbClr val="E3C79A"/>
                </a:solidFill>
                <a:latin typeface="Arial" pitchFamily="34" charset="0"/>
                <a:ea typeface="Arial" pitchFamily="34" charset="-122"/>
                <a:cs typeface="Arial" pitchFamily="34" charset="-120"/>
              </a:rPr>
              <a:t>Patches</a:t>
            </a:r>
            <a:endParaRPr lang="en-US" sz="1300" dirty="0"/>
          </a:p>
        </p:txBody>
      </p:sp>
      <p:sp>
        <p:nvSpPr>
          <p:cNvPr id="18" name="Text 13"/>
          <p:cNvSpPr txBox="1"/>
          <p:nvPr/>
        </p:nvSpPr>
        <p:spPr>
          <a:xfrm>
            <a:off x="5340096" y="3355848"/>
            <a:ext cx="1847088" cy="32004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Irregular discoloured regions</a:t>
            </a:r>
            <a:endParaRPr lang="en-US" sz="1050" dirty="0"/>
          </a:p>
        </p:txBody>
      </p:sp>
      <p:sp>
        <p:nvSpPr>
          <p:cNvPr id="19" name="Shape 14"/>
          <p:cNvSpPr/>
          <p:nvPr/>
        </p:nvSpPr>
        <p:spPr>
          <a:xfrm>
            <a:off x="548640" y="3931920"/>
            <a:ext cx="2103120" cy="2057400"/>
          </a:xfrm>
          <a:prstGeom prst="roundRect">
            <a:avLst>
              <a:gd name="adj" fmla="val 355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pic>
        <p:nvPicPr>
          <p:cNvPr id="20" name="Image 3" descr="/home/claude/steel/img/tile_pitted.png">    </p:cNvPr>
          <p:cNvPicPr>
            <a:picLocks noChangeAspect="1"/>
          </p:cNvPicPr>
          <p:nvPr/>
        </p:nvPicPr>
        <p:blipFill>
          <a:blip r:embed="rId5"/>
          <a:stretch>
            <a:fillRect/>
          </a:stretch>
        </p:blipFill>
        <p:spPr>
          <a:xfrm>
            <a:off x="676656" y="4059936"/>
            <a:ext cx="1188720" cy="1188720"/>
          </a:xfrm>
          <a:prstGeom prst="rect">
            <a:avLst/>
          </a:prstGeom>
        </p:spPr>
      </p:pic>
      <p:sp>
        <p:nvSpPr>
          <p:cNvPr id="21" name="Text 15"/>
          <p:cNvSpPr txBox="1"/>
          <p:nvPr/>
        </p:nvSpPr>
        <p:spPr>
          <a:xfrm>
            <a:off x="676656" y="5321808"/>
            <a:ext cx="1847088" cy="274320"/>
          </a:xfrm>
          <a:prstGeom prst="rect">
            <a:avLst/>
          </a:prstGeom>
          <a:noFill/>
          <a:ln/>
        </p:spPr>
        <p:txBody>
          <a:bodyPr wrap="square" lIns="0" tIns="0" rIns="0" bIns="0" rtlCol="0" anchor="t"/>
          <a:lstStyle/>
          <a:p>
            <a:pPr indent="0" marL="0">
              <a:buNone/>
            </a:pPr>
            <a:r>
              <a:rPr lang="en-US" sz="1300" b="1" dirty="0">
                <a:solidFill>
                  <a:srgbClr val="A9C7A9"/>
                </a:solidFill>
                <a:latin typeface="Arial" pitchFamily="34" charset="0"/>
                <a:ea typeface="Arial" pitchFamily="34" charset="-122"/>
                <a:cs typeface="Arial" pitchFamily="34" charset="-120"/>
              </a:rPr>
              <a:t>Pitted Surface</a:t>
            </a:r>
            <a:endParaRPr lang="en-US" sz="1300" dirty="0"/>
          </a:p>
        </p:txBody>
      </p:sp>
      <p:sp>
        <p:nvSpPr>
          <p:cNvPr id="22" name="Text 16"/>
          <p:cNvSpPr txBox="1"/>
          <p:nvPr/>
        </p:nvSpPr>
        <p:spPr>
          <a:xfrm>
            <a:off x="676656" y="5596128"/>
            <a:ext cx="1847088" cy="32004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Clusters of small cavities</a:t>
            </a:r>
            <a:endParaRPr lang="en-US" sz="1050" dirty="0"/>
          </a:p>
        </p:txBody>
      </p:sp>
      <p:sp>
        <p:nvSpPr>
          <p:cNvPr id="23" name="Shape 17"/>
          <p:cNvSpPr/>
          <p:nvPr/>
        </p:nvSpPr>
        <p:spPr>
          <a:xfrm>
            <a:off x="2880360" y="3931920"/>
            <a:ext cx="2103120" cy="2057400"/>
          </a:xfrm>
          <a:prstGeom prst="roundRect">
            <a:avLst>
              <a:gd name="adj" fmla="val 355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pic>
        <p:nvPicPr>
          <p:cNvPr id="24" name="Image 4" descr="/home/claude/steel/img/tile_rolled.png">    </p:cNvPr>
          <p:cNvPicPr>
            <a:picLocks noChangeAspect="1"/>
          </p:cNvPicPr>
          <p:nvPr/>
        </p:nvPicPr>
        <p:blipFill>
          <a:blip r:embed="rId6"/>
          <a:stretch>
            <a:fillRect/>
          </a:stretch>
        </p:blipFill>
        <p:spPr>
          <a:xfrm>
            <a:off x="3008376" y="4059936"/>
            <a:ext cx="1188720" cy="1188720"/>
          </a:xfrm>
          <a:prstGeom prst="rect">
            <a:avLst/>
          </a:prstGeom>
        </p:spPr>
      </p:pic>
      <p:sp>
        <p:nvSpPr>
          <p:cNvPr id="25" name="Text 18"/>
          <p:cNvSpPr txBox="1"/>
          <p:nvPr/>
        </p:nvSpPr>
        <p:spPr>
          <a:xfrm>
            <a:off x="3008376" y="5321808"/>
            <a:ext cx="1847088" cy="274320"/>
          </a:xfrm>
          <a:prstGeom prst="rect">
            <a:avLst/>
          </a:prstGeom>
          <a:noFill/>
          <a:ln/>
        </p:spPr>
        <p:txBody>
          <a:bodyPr wrap="square" lIns="0" tIns="0" rIns="0" bIns="0" rtlCol="0" anchor="t"/>
          <a:lstStyle/>
          <a:p>
            <a:pPr indent="0" marL="0">
              <a:buNone/>
            </a:pPr>
            <a:r>
              <a:rPr lang="en-US" sz="1300" b="1" dirty="0">
                <a:solidFill>
                  <a:srgbClr val="B9AFD4"/>
                </a:solidFill>
                <a:latin typeface="Arial" pitchFamily="34" charset="0"/>
                <a:ea typeface="Arial" pitchFamily="34" charset="-122"/>
                <a:cs typeface="Arial" pitchFamily="34" charset="-120"/>
              </a:rPr>
              <a:t>Rolled-In Scale</a:t>
            </a:r>
            <a:endParaRPr lang="en-US" sz="1300" dirty="0"/>
          </a:p>
        </p:txBody>
      </p:sp>
      <p:sp>
        <p:nvSpPr>
          <p:cNvPr id="26" name="Text 19"/>
          <p:cNvSpPr txBox="1"/>
          <p:nvPr/>
        </p:nvSpPr>
        <p:spPr>
          <a:xfrm>
            <a:off x="3008376" y="5596128"/>
            <a:ext cx="1847088" cy="32004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Oxide scale pressed into the metal</a:t>
            </a:r>
            <a:endParaRPr lang="en-US" sz="1050" dirty="0"/>
          </a:p>
        </p:txBody>
      </p:sp>
      <p:sp>
        <p:nvSpPr>
          <p:cNvPr id="27" name="Shape 20"/>
          <p:cNvSpPr/>
          <p:nvPr/>
        </p:nvSpPr>
        <p:spPr>
          <a:xfrm>
            <a:off x="5212080" y="3931920"/>
            <a:ext cx="2103120" cy="2057400"/>
          </a:xfrm>
          <a:prstGeom prst="roundRect">
            <a:avLst>
              <a:gd name="adj" fmla="val 355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pic>
        <p:nvPicPr>
          <p:cNvPr id="28" name="Image 5" descr="/home/claude/steel/img/tile_scratches.png">    </p:cNvPr>
          <p:cNvPicPr>
            <a:picLocks noChangeAspect="1"/>
          </p:cNvPicPr>
          <p:nvPr/>
        </p:nvPicPr>
        <p:blipFill>
          <a:blip r:embed="rId7"/>
          <a:stretch>
            <a:fillRect/>
          </a:stretch>
        </p:blipFill>
        <p:spPr>
          <a:xfrm>
            <a:off x="5340096" y="4059936"/>
            <a:ext cx="1188720" cy="1188720"/>
          </a:xfrm>
          <a:prstGeom prst="rect">
            <a:avLst/>
          </a:prstGeom>
        </p:spPr>
      </p:pic>
      <p:sp>
        <p:nvSpPr>
          <p:cNvPr id="29" name="Text 21"/>
          <p:cNvSpPr txBox="1"/>
          <p:nvPr/>
        </p:nvSpPr>
        <p:spPr>
          <a:xfrm>
            <a:off x="5340096" y="5321808"/>
            <a:ext cx="1847088" cy="274320"/>
          </a:xfrm>
          <a:prstGeom prst="rect">
            <a:avLst/>
          </a:prstGeom>
          <a:noFill/>
          <a:ln/>
        </p:spPr>
        <p:txBody>
          <a:bodyPr wrap="square" lIns="0" tIns="0" rIns="0" bIns="0" rtlCol="0" anchor="t"/>
          <a:lstStyle/>
          <a:p>
            <a:pPr indent="0" marL="0">
              <a:buNone/>
            </a:pPr>
            <a:r>
              <a:rPr lang="en-US" sz="1300" b="1" dirty="0">
                <a:solidFill>
                  <a:srgbClr val="8FC8C0"/>
                </a:solidFill>
                <a:latin typeface="Arial" pitchFamily="34" charset="0"/>
                <a:ea typeface="Arial" pitchFamily="34" charset="-122"/>
                <a:cs typeface="Arial" pitchFamily="34" charset="-120"/>
              </a:rPr>
              <a:t>Scratches</a:t>
            </a:r>
            <a:endParaRPr lang="en-US" sz="1300" dirty="0"/>
          </a:p>
        </p:txBody>
      </p:sp>
      <p:sp>
        <p:nvSpPr>
          <p:cNvPr id="30" name="Text 22"/>
          <p:cNvSpPr txBox="1"/>
          <p:nvPr/>
        </p:nvSpPr>
        <p:spPr>
          <a:xfrm>
            <a:off x="5340096" y="5596128"/>
            <a:ext cx="1847088" cy="320040"/>
          </a:xfrm>
          <a:prstGeom prst="rect">
            <a:avLst/>
          </a:prstGeom>
          <a:noFill/>
          <a:ln/>
        </p:spPr>
        <p:txBody>
          <a:bodyPr wrap="square" lIns="0" tIns="0" rIns="0" bIns="0" rtlCol="0" anchor="t"/>
          <a:lstStyle/>
          <a:p>
            <a:pPr indent="0" marL="0">
              <a:buNone/>
            </a:pPr>
            <a:r>
              <a:rPr lang="en-US" sz="1050" dirty="0">
                <a:solidFill>
                  <a:srgbClr val="98A2B0"/>
                </a:solidFill>
                <a:latin typeface="Calibri" pitchFamily="34" charset="0"/>
                <a:ea typeface="Calibri" pitchFamily="34" charset="-122"/>
                <a:cs typeface="Calibri" pitchFamily="34" charset="-120"/>
              </a:rPr>
              <a:t>Long, straight directional gouges</a:t>
            </a:r>
            <a:endParaRPr lang="en-US" sz="1050" dirty="0"/>
          </a:p>
        </p:txBody>
      </p:sp>
      <p:sp>
        <p:nvSpPr>
          <p:cNvPr id="31" name="Shape 23"/>
          <p:cNvSpPr/>
          <p:nvPr/>
        </p:nvSpPr>
        <p:spPr>
          <a:xfrm>
            <a:off x="7680960" y="1691640"/>
            <a:ext cx="3959352" cy="2194560"/>
          </a:xfrm>
          <a:prstGeom prst="roundRect">
            <a:avLst>
              <a:gd name="adj" fmla="val 3333"/>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32" name="Image 6" descr="/home/claude/steel/img/c20_0.png">    </p:cNvPr>
          <p:cNvPicPr>
            <a:picLocks noChangeAspect="1"/>
          </p:cNvPicPr>
          <p:nvPr/>
        </p:nvPicPr>
        <p:blipFill>
          <a:blip r:embed="rId8"/>
          <a:stretch>
            <a:fillRect/>
          </a:stretch>
        </p:blipFill>
        <p:spPr>
          <a:xfrm>
            <a:off x="7790688" y="1909056"/>
            <a:ext cx="3739896" cy="1759727"/>
          </a:xfrm>
          <a:prstGeom prst="rect">
            <a:avLst/>
          </a:prstGeom>
        </p:spPr>
      </p:pic>
      <p:sp>
        <p:nvSpPr>
          <p:cNvPr id="33" name="Shape 24"/>
          <p:cNvSpPr/>
          <p:nvPr/>
        </p:nvSpPr>
        <p:spPr>
          <a:xfrm>
            <a:off x="7680960" y="4041648"/>
            <a:ext cx="3959352" cy="1719072"/>
          </a:xfrm>
          <a:prstGeom prst="roundRect">
            <a:avLst>
              <a:gd name="adj" fmla="val 425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34" name="Shape 25"/>
          <p:cNvSpPr/>
          <p:nvPr/>
        </p:nvSpPr>
        <p:spPr>
          <a:xfrm>
            <a:off x="7680960" y="4151376"/>
            <a:ext cx="41148" cy="1499616"/>
          </a:xfrm>
          <a:prstGeom prst="rect">
            <a:avLst/>
          </a:prstGeom>
          <a:solidFill>
            <a:srgbClr val="A9C7A9"/>
          </a:solidFill>
          <a:ln w="12700">
            <a:solidFill>
              <a:srgbClr val="333333"/>
            </a:solidFill>
            <a:prstDash val="solid"/>
          </a:ln>
        </p:spPr>
      </p:sp>
      <p:sp>
        <p:nvSpPr>
          <p:cNvPr id="35" name="Shape 26"/>
          <p:cNvSpPr/>
          <p:nvPr/>
        </p:nvSpPr>
        <p:spPr>
          <a:xfrm>
            <a:off x="7936992" y="4251960"/>
            <a:ext cx="548640" cy="548640"/>
          </a:xfrm>
          <a:prstGeom prst="roundRect">
            <a:avLst>
              <a:gd name="adj" fmla="val 36667"/>
            </a:avLst>
          </a:prstGeom>
          <a:solidFill>
            <a:srgbClr val="232A33"/>
          </a:solidFill>
          <a:ln w="12700">
            <a:solidFill>
              <a:srgbClr val="2E3640"/>
            </a:solidFill>
            <a:prstDash val="solid"/>
          </a:ln>
        </p:spPr>
      </p:sp>
      <p:pic>
        <p:nvPicPr>
          <p:cNvPr id="36" name="Image 7" descr="preencoded.png">    </p:cNvPr>
          <p:cNvPicPr>
            <a:picLocks noChangeAspect="1"/>
          </p:cNvPicPr>
          <p:nvPr/>
        </p:nvPicPr>
        <p:blipFill>
          <a:blip r:embed="rId9"/>
          <a:stretch>
            <a:fillRect/>
          </a:stretch>
        </p:blipFill>
        <p:spPr>
          <a:xfrm>
            <a:off x="8068666" y="4383634"/>
            <a:ext cx="285293" cy="285293"/>
          </a:xfrm>
          <a:prstGeom prst="rect">
            <a:avLst/>
          </a:prstGeom>
        </p:spPr>
      </p:pic>
      <p:sp>
        <p:nvSpPr>
          <p:cNvPr id="37" name="Text 27"/>
          <p:cNvSpPr txBox="1"/>
          <p:nvPr/>
        </p:nvSpPr>
        <p:spPr>
          <a:xfrm>
            <a:off x="8641080" y="4279392"/>
            <a:ext cx="2743200" cy="320040"/>
          </a:xfrm>
          <a:prstGeom prst="rect">
            <a:avLst/>
          </a:prstGeom>
          <a:noFill/>
          <a:ln/>
        </p:spPr>
        <p:txBody>
          <a:bodyPr wrap="square" lIns="0" tIns="0" rIns="0" bIns="0" rtlCol="0" anchor="t"/>
          <a:lstStyle/>
          <a:p>
            <a:pPr indent="0" marL="0">
              <a:buNone/>
            </a:pPr>
            <a:r>
              <a:rPr lang="en-US" sz="1400" b="1" dirty="0">
                <a:solidFill>
                  <a:srgbClr val="A9C7A9"/>
                </a:solidFill>
                <a:latin typeface="Arial" pitchFamily="34" charset="0"/>
                <a:ea typeface="Arial" pitchFamily="34" charset="-122"/>
                <a:cs typeface="Arial" pitchFamily="34" charset="-120"/>
              </a:rPr>
              <a:t>Balanced by design</a:t>
            </a:r>
            <a:endParaRPr lang="en-US" sz="1400" dirty="0"/>
          </a:p>
        </p:txBody>
      </p:sp>
      <p:sp>
        <p:nvSpPr>
          <p:cNvPr id="38" name="Text 28"/>
          <p:cNvSpPr txBox="1"/>
          <p:nvPr/>
        </p:nvSpPr>
        <p:spPr>
          <a:xfrm>
            <a:off x="7936992" y="4892040"/>
            <a:ext cx="3474720" cy="77724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The imbalance ratio is exactly 1.00. No class dominates, so overall accuracy is a fair headline number here.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03  ·  SPLITS &amp; LEAKAGE</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Three splits, and a hard check that none overlap</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04</a:t>
            </a:r>
            <a:endParaRPr lang="en-US" sz="950" dirty="0"/>
          </a:p>
        </p:txBody>
      </p:sp>
      <p:sp>
        <p:nvSpPr>
          <p:cNvPr id="7" name="Shape 5"/>
          <p:cNvSpPr/>
          <p:nvPr/>
        </p:nvSpPr>
        <p:spPr>
          <a:xfrm>
            <a:off x="548640" y="1691640"/>
            <a:ext cx="7040880" cy="2606040"/>
          </a:xfrm>
          <a:prstGeom prst="roundRect">
            <a:avLst>
              <a:gd name="adj" fmla="val 2807"/>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8" name="Image 0" descr="/home/claude/steel/img/c17_0.png">    </p:cNvPr>
          <p:cNvPicPr>
            <a:picLocks noChangeAspect="1"/>
          </p:cNvPicPr>
          <p:nvPr/>
        </p:nvPicPr>
        <p:blipFill>
          <a:blip r:embed="rId2"/>
          <a:stretch>
            <a:fillRect/>
          </a:stretch>
        </p:blipFill>
        <p:spPr>
          <a:xfrm>
            <a:off x="658368" y="1801897"/>
            <a:ext cx="6821424" cy="2385527"/>
          </a:xfrm>
          <a:prstGeom prst="rect">
            <a:avLst/>
          </a:prstGeom>
        </p:spPr>
      </p:pic>
      <p:sp>
        <p:nvSpPr>
          <p:cNvPr id="9" name="Shape 6"/>
          <p:cNvSpPr/>
          <p:nvPr/>
        </p:nvSpPr>
        <p:spPr>
          <a:xfrm>
            <a:off x="548640" y="4526280"/>
            <a:ext cx="2240280" cy="1691640"/>
          </a:xfrm>
          <a:prstGeom prst="roundRect">
            <a:avLst>
              <a:gd name="adj" fmla="val 432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0" name="Shape 7"/>
          <p:cNvSpPr/>
          <p:nvPr/>
        </p:nvSpPr>
        <p:spPr>
          <a:xfrm>
            <a:off x="548640" y="4636008"/>
            <a:ext cx="41148" cy="1472184"/>
          </a:xfrm>
          <a:prstGeom prst="rect">
            <a:avLst/>
          </a:prstGeom>
          <a:solidFill>
            <a:srgbClr val="9DB8D9"/>
          </a:solidFill>
          <a:ln w="12700">
            <a:solidFill>
              <a:srgbClr val="333333"/>
            </a:solidFill>
            <a:prstDash val="solid"/>
          </a:ln>
        </p:spPr>
      </p:sp>
      <p:sp>
        <p:nvSpPr>
          <p:cNvPr id="11" name="Text 8"/>
          <p:cNvSpPr txBox="1"/>
          <p:nvPr/>
        </p:nvSpPr>
        <p:spPr>
          <a:xfrm>
            <a:off x="804672" y="4645152"/>
            <a:ext cx="1828800" cy="548640"/>
          </a:xfrm>
          <a:prstGeom prst="rect">
            <a:avLst/>
          </a:prstGeom>
          <a:noFill/>
          <a:ln/>
        </p:spPr>
        <p:txBody>
          <a:bodyPr wrap="square" lIns="0" tIns="0" rIns="0" bIns="0" rtlCol="0" anchor="ctr"/>
          <a:lstStyle/>
          <a:p>
            <a:pPr indent="0" marL="0">
              <a:buNone/>
            </a:pPr>
            <a:r>
              <a:rPr lang="en-US" sz="2600" b="1" dirty="0">
                <a:solidFill>
                  <a:srgbClr val="9DB8D9"/>
                </a:solidFill>
                <a:latin typeface="Arial" pitchFamily="34" charset="0"/>
                <a:ea typeface="Arial" pitchFamily="34" charset="-122"/>
                <a:cs typeface="Arial" pitchFamily="34" charset="-120"/>
              </a:rPr>
              <a:t>1,152</a:t>
            </a:r>
            <a:endParaRPr lang="en-US" sz="2600" dirty="0"/>
          </a:p>
        </p:txBody>
      </p:sp>
      <p:sp>
        <p:nvSpPr>
          <p:cNvPr id="12" name="Text 9"/>
          <p:cNvSpPr txBox="1"/>
          <p:nvPr/>
        </p:nvSpPr>
        <p:spPr>
          <a:xfrm>
            <a:off x="804672" y="5193792"/>
            <a:ext cx="1828800" cy="274320"/>
          </a:xfrm>
          <a:prstGeom prst="rect">
            <a:avLst/>
          </a:prstGeom>
          <a:noFill/>
          <a:ln/>
        </p:spPr>
        <p:txBody>
          <a:bodyPr wrap="square" lIns="0" tIns="0" rIns="0" bIns="0" rtlCol="0" anchor="t"/>
          <a:lstStyle/>
          <a:p>
            <a:pPr indent="0" marL="0">
              <a:buNone/>
            </a:pPr>
            <a:r>
              <a:rPr lang="en-US" sz="1300" b="1" dirty="0">
                <a:solidFill>
                  <a:srgbClr val="ECEFF3"/>
                </a:solidFill>
                <a:latin typeface="Calibri" pitchFamily="34" charset="0"/>
                <a:ea typeface="Calibri" pitchFamily="34" charset="-122"/>
                <a:cs typeface="Calibri" pitchFamily="34" charset="-120"/>
              </a:rPr>
              <a:t>Train</a:t>
            </a:r>
            <a:endParaRPr lang="en-US" sz="1300" dirty="0"/>
          </a:p>
        </p:txBody>
      </p:sp>
      <p:sp>
        <p:nvSpPr>
          <p:cNvPr id="13" name="Text 10"/>
          <p:cNvSpPr txBox="1"/>
          <p:nvPr/>
        </p:nvSpPr>
        <p:spPr>
          <a:xfrm>
            <a:off x="804672" y="5486400"/>
            <a:ext cx="1828800" cy="594360"/>
          </a:xfrm>
          <a:prstGeom prst="rect">
            <a:avLst/>
          </a:prstGeom>
          <a:noFill/>
          <a:ln/>
        </p:spPr>
        <p:txBody>
          <a:bodyPr wrap="square" lIns="0" tIns="0" rIns="0" bIns="0" rtlCol="0" anchor="t"/>
          <a:lstStyle/>
          <a:p>
            <a:pPr indent="0" marL="0">
              <a:buNone/>
            </a:pPr>
            <a:r>
              <a:rPr lang="en-US" sz="1100" dirty="0">
                <a:solidFill>
                  <a:srgbClr val="98A2B0"/>
                </a:solidFill>
                <a:latin typeface="Calibri" pitchFamily="34" charset="0"/>
                <a:ea typeface="Calibri" pitchFamily="34" charset="-122"/>
                <a:cs typeface="Calibri" pitchFamily="34" charset="-120"/>
              </a:rPr>
              <a:t>80% of the original training folder</a:t>
            </a:r>
            <a:endParaRPr lang="en-US" sz="1100" dirty="0"/>
          </a:p>
        </p:txBody>
      </p:sp>
      <p:sp>
        <p:nvSpPr>
          <p:cNvPr id="14" name="Shape 11"/>
          <p:cNvSpPr/>
          <p:nvPr/>
        </p:nvSpPr>
        <p:spPr>
          <a:xfrm>
            <a:off x="2944368" y="4526280"/>
            <a:ext cx="2240280" cy="1691640"/>
          </a:xfrm>
          <a:prstGeom prst="roundRect">
            <a:avLst>
              <a:gd name="adj" fmla="val 432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5" name="Shape 12"/>
          <p:cNvSpPr/>
          <p:nvPr/>
        </p:nvSpPr>
        <p:spPr>
          <a:xfrm>
            <a:off x="2944368" y="4636008"/>
            <a:ext cx="41148" cy="1472184"/>
          </a:xfrm>
          <a:prstGeom prst="rect">
            <a:avLst/>
          </a:prstGeom>
          <a:solidFill>
            <a:srgbClr val="E3C79A"/>
          </a:solidFill>
          <a:ln w="12700">
            <a:solidFill>
              <a:srgbClr val="333333"/>
            </a:solidFill>
            <a:prstDash val="solid"/>
          </a:ln>
        </p:spPr>
      </p:sp>
      <p:sp>
        <p:nvSpPr>
          <p:cNvPr id="16" name="Text 13"/>
          <p:cNvSpPr txBox="1"/>
          <p:nvPr/>
        </p:nvSpPr>
        <p:spPr>
          <a:xfrm>
            <a:off x="3200400" y="4645152"/>
            <a:ext cx="1828800" cy="548640"/>
          </a:xfrm>
          <a:prstGeom prst="rect">
            <a:avLst/>
          </a:prstGeom>
          <a:noFill/>
          <a:ln/>
        </p:spPr>
        <p:txBody>
          <a:bodyPr wrap="square" lIns="0" tIns="0" rIns="0" bIns="0" rtlCol="0" anchor="ctr"/>
          <a:lstStyle/>
          <a:p>
            <a:pPr indent="0" marL="0">
              <a:buNone/>
            </a:pPr>
            <a:r>
              <a:rPr lang="en-US" sz="2600" b="1" dirty="0">
                <a:solidFill>
                  <a:srgbClr val="E3C79A"/>
                </a:solidFill>
                <a:latin typeface="Arial" pitchFamily="34" charset="0"/>
                <a:ea typeface="Arial" pitchFamily="34" charset="-122"/>
                <a:cs typeface="Arial" pitchFamily="34" charset="-120"/>
              </a:rPr>
              <a:t>288</a:t>
            </a:r>
            <a:endParaRPr lang="en-US" sz="2600" dirty="0"/>
          </a:p>
        </p:txBody>
      </p:sp>
      <p:sp>
        <p:nvSpPr>
          <p:cNvPr id="17" name="Text 14"/>
          <p:cNvSpPr txBox="1"/>
          <p:nvPr/>
        </p:nvSpPr>
        <p:spPr>
          <a:xfrm>
            <a:off x="3200400" y="5193792"/>
            <a:ext cx="1828800" cy="274320"/>
          </a:xfrm>
          <a:prstGeom prst="rect">
            <a:avLst/>
          </a:prstGeom>
          <a:noFill/>
          <a:ln/>
        </p:spPr>
        <p:txBody>
          <a:bodyPr wrap="square" lIns="0" tIns="0" rIns="0" bIns="0" rtlCol="0" anchor="t"/>
          <a:lstStyle/>
          <a:p>
            <a:pPr indent="0" marL="0">
              <a:buNone/>
            </a:pPr>
            <a:r>
              <a:rPr lang="en-US" sz="1300" b="1" dirty="0">
                <a:solidFill>
                  <a:srgbClr val="ECEFF3"/>
                </a:solidFill>
                <a:latin typeface="Calibri" pitchFamily="34" charset="0"/>
                <a:ea typeface="Calibri" pitchFamily="34" charset="-122"/>
                <a:cs typeface="Calibri" pitchFamily="34" charset="-120"/>
              </a:rPr>
              <a:t>Validation</a:t>
            </a:r>
            <a:endParaRPr lang="en-US" sz="1300" dirty="0"/>
          </a:p>
        </p:txBody>
      </p:sp>
      <p:sp>
        <p:nvSpPr>
          <p:cNvPr id="18" name="Text 15"/>
          <p:cNvSpPr txBox="1"/>
          <p:nvPr/>
        </p:nvSpPr>
        <p:spPr>
          <a:xfrm>
            <a:off x="3200400" y="5486400"/>
            <a:ext cx="1828800" cy="594360"/>
          </a:xfrm>
          <a:prstGeom prst="rect">
            <a:avLst/>
          </a:prstGeom>
          <a:noFill/>
          <a:ln/>
        </p:spPr>
        <p:txBody>
          <a:bodyPr wrap="square" lIns="0" tIns="0" rIns="0" bIns="0" rtlCol="0" anchor="t"/>
          <a:lstStyle/>
          <a:p>
            <a:pPr indent="0" marL="0">
              <a:buNone/>
            </a:pPr>
            <a:r>
              <a:rPr lang="en-US" sz="1100" dirty="0">
                <a:solidFill>
                  <a:srgbClr val="98A2B0"/>
                </a:solidFill>
                <a:latin typeface="Calibri" pitchFamily="34" charset="0"/>
                <a:ea typeface="Calibri" pitchFamily="34" charset="-122"/>
                <a:cs typeface="Calibri" pitchFamily="34" charset="-120"/>
              </a:rPr>
              <a:t>Early stopping and model selection</a:t>
            </a:r>
            <a:endParaRPr lang="en-US" sz="1100" dirty="0"/>
          </a:p>
        </p:txBody>
      </p:sp>
      <p:sp>
        <p:nvSpPr>
          <p:cNvPr id="19" name="Shape 16"/>
          <p:cNvSpPr/>
          <p:nvPr/>
        </p:nvSpPr>
        <p:spPr>
          <a:xfrm>
            <a:off x="5340096" y="4526280"/>
            <a:ext cx="2240280" cy="1691640"/>
          </a:xfrm>
          <a:prstGeom prst="roundRect">
            <a:avLst>
              <a:gd name="adj" fmla="val 432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0" name="Shape 17"/>
          <p:cNvSpPr/>
          <p:nvPr/>
        </p:nvSpPr>
        <p:spPr>
          <a:xfrm>
            <a:off x="5340096" y="4636008"/>
            <a:ext cx="41148" cy="1472184"/>
          </a:xfrm>
          <a:prstGeom prst="rect">
            <a:avLst/>
          </a:prstGeom>
          <a:solidFill>
            <a:srgbClr val="E0A9A1"/>
          </a:solidFill>
          <a:ln w="12700">
            <a:solidFill>
              <a:srgbClr val="333333"/>
            </a:solidFill>
            <a:prstDash val="solid"/>
          </a:ln>
        </p:spPr>
      </p:sp>
      <p:sp>
        <p:nvSpPr>
          <p:cNvPr id="21" name="Text 18"/>
          <p:cNvSpPr txBox="1"/>
          <p:nvPr/>
        </p:nvSpPr>
        <p:spPr>
          <a:xfrm>
            <a:off x="5596128" y="4645152"/>
            <a:ext cx="1828800" cy="548640"/>
          </a:xfrm>
          <a:prstGeom prst="rect">
            <a:avLst/>
          </a:prstGeom>
          <a:noFill/>
          <a:ln/>
        </p:spPr>
        <p:txBody>
          <a:bodyPr wrap="square" lIns="0" tIns="0" rIns="0" bIns="0" rtlCol="0" anchor="ctr"/>
          <a:lstStyle/>
          <a:p>
            <a:pPr indent="0" marL="0">
              <a:buNone/>
            </a:pPr>
            <a:r>
              <a:rPr lang="en-US" sz="2600" b="1" dirty="0">
                <a:solidFill>
                  <a:srgbClr val="E0A9A1"/>
                </a:solidFill>
                <a:latin typeface="Arial" pitchFamily="34" charset="0"/>
                <a:ea typeface="Arial" pitchFamily="34" charset="-122"/>
                <a:cs typeface="Arial" pitchFamily="34" charset="-120"/>
              </a:rPr>
              <a:t>360</a:t>
            </a:r>
            <a:endParaRPr lang="en-US" sz="2600" dirty="0"/>
          </a:p>
        </p:txBody>
      </p:sp>
      <p:sp>
        <p:nvSpPr>
          <p:cNvPr id="22" name="Text 19"/>
          <p:cNvSpPr txBox="1"/>
          <p:nvPr/>
        </p:nvSpPr>
        <p:spPr>
          <a:xfrm>
            <a:off x="5596128" y="5193792"/>
            <a:ext cx="1828800" cy="274320"/>
          </a:xfrm>
          <a:prstGeom prst="rect">
            <a:avLst/>
          </a:prstGeom>
          <a:noFill/>
          <a:ln/>
        </p:spPr>
        <p:txBody>
          <a:bodyPr wrap="square" lIns="0" tIns="0" rIns="0" bIns="0" rtlCol="0" anchor="t"/>
          <a:lstStyle/>
          <a:p>
            <a:pPr indent="0" marL="0">
              <a:buNone/>
            </a:pPr>
            <a:r>
              <a:rPr lang="en-US" sz="1300" b="1" dirty="0">
                <a:solidFill>
                  <a:srgbClr val="ECEFF3"/>
                </a:solidFill>
                <a:latin typeface="Calibri" pitchFamily="34" charset="0"/>
                <a:ea typeface="Calibri" pitchFamily="34" charset="-122"/>
                <a:cs typeface="Calibri" pitchFamily="34" charset="-120"/>
              </a:rPr>
              <a:t>Test</a:t>
            </a:r>
            <a:endParaRPr lang="en-US" sz="1300" dirty="0"/>
          </a:p>
        </p:txBody>
      </p:sp>
      <p:sp>
        <p:nvSpPr>
          <p:cNvPr id="23" name="Text 20"/>
          <p:cNvSpPr txBox="1"/>
          <p:nvPr/>
        </p:nvSpPr>
        <p:spPr>
          <a:xfrm>
            <a:off x="5596128" y="5486400"/>
            <a:ext cx="1828800" cy="594360"/>
          </a:xfrm>
          <a:prstGeom prst="rect">
            <a:avLst/>
          </a:prstGeom>
          <a:noFill/>
          <a:ln/>
        </p:spPr>
        <p:txBody>
          <a:bodyPr wrap="square" lIns="0" tIns="0" rIns="0" bIns="0" rtlCol="0" anchor="t"/>
          <a:lstStyle/>
          <a:p>
            <a:pPr indent="0" marL="0">
              <a:buNone/>
            </a:pPr>
            <a:r>
              <a:rPr lang="en-US" sz="1100" dirty="0">
                <a:solidFill>
                  <a:srgbClr val="98A2B0"/>
                </a:solidFill>
                <a:latin typeface="Calibri" pitchFamily="34" charset="0"/>
                <a:ea typeface="Calibri" pitchFamily="34" charset="-122"/>
                <a:cs typeface="Calibri" pitchFamily="34" charset="-120"/>
              </a:rPr>
              <a:t>The original NEU-DET validation folder</a:t>
            </a:r>
            <a:endParaRPr lang="en-US" sz="1100" dirty="0"/>
          </a:p>
        </p:txBody>
      </p:sp>
      <p:sp>
        <p:nvSpPr>
          <p:cNvPr id="24" name="Shape 21"/>
          <p:cNvSpPr/>
          <p:nvPr/>
        </p:nvSpPr>
        <p:spPr>
          <a:xfrm>
            <a:off x="7863840" y="1691640"/>
            <a:ext cx="3776472" cy="2148840"/>
          </a:xfrm>
          <a:prstGeom prst="roundRect">
            <a:avLst>
              <a:gd name="adj" fmla="val 340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5" name="Shape 22"/>
          <p:cNvSpPr/>
          <p:nvPr/>
        </p:nvSpPr>
        <p:spPr>
          <a:xfrm>
            <a:off x="7863840" y="1801368"/>
            <a:ext cx="41148" cy="1929384"/>
          </a:xfrm>
          <a:prstGeom prst="rect">
            <a:avLst/>
          </a:prstGeom>
          <a:solidFill>
            <a:srgbClr val="8FC8C0"/>
          </a:solidFill>
          <a:ln w="12700">
            <a:solidFill>
              <a:srgbClr val="333333"/>
            </a:solidFill>
            <a:prstDash val="solid"/>
          </a:ln>
        </p:spPr>
      </p:sp>
      <p:sp>
        <p:nvSpPr>
          <p:cNvPr id="26" name="Shape 23"/>
          <p:cNvSpPr/>
          <p:nvPr/>
        </p:nvSpPr>
        <p:spPr>
          <a:xfrm>
            <a:off x="8092440" y="1901952"/>
            <a:ext cx="566928" cy="566928"/>
          </a:xfrm>
          <a:prstGeom prst="roundRect">
            <a:avLst>
              <a:gd name="adj" fmla="val 35484"/>
            </a:avLst>
          </a:prstGeom>
          <a:solidFill>
            <a:srgbClr val="232A33"/>
          </a:solidFill>
          <a:ln w="12700">
            <a:solidFill>
              <a:srgbClr val="2E3640"/>
            </a:solidFill>
            <a:prstDash val="solid"/>
          </a:ln>
        </p:spPr>
      </p:sp>
      <p:pic>
        <p:nvPicPr>
          <p:cNvPr id="27" name="Image 1" descr="preencoded.png">    </p:cNvPr>
          <p:cNvPicPr>
            <a:picLocks noChangeAspect="1"/>
          </p:cNvPicPr>
          <p:nvPr/>
        </p:nvPicPr>
        <p:blipFill>
          <a:blip r:embed="rId3"/>
          <a:stretch>
            <a:fillRect/>
          </a:stretch>
        </p:blipFill>
        <p:spPr>
          <a:xfrm>
            <a:off x="8228503" y="2038015"/>
            <a:ext cx="294803" cy="294803"/>
          </a:xfrm>
          <a:prstGeom prst="rect">
            <a:avLst/>
          </a:prstGeom>
        </p:spPr>
      </p:pic>
      <p:sp>
        <p:nvSpPr>
          <p:cNvPr id="28" name="Text 24"/>
          <p:cNvSpPr txBox="1"/>
          <p:nvPr/>
        </p:nvSpPr>
        <p:spPr>
          <a:xfrm>
            <a:off x="8805672" y="1938528"/>
            <a:ext cx="2651760" cy="320040"/>
          </a:xfrm>
          <a:prstGeom prst="rect">
            <a:avLst/>
          </a:prstGeom>
          <a:noFill/>
          <a:ln/>
        </p:spPr>
        <p:txBody>
          <a:bodyPr wrap="square" lIns="0" tIns="0" rIns="0" bIns="0" rtlCol="0" anchor="t"/>
          <a:lstStyle/>
          <a:p>
            <a:pPr indent="0" marL="0">
              <a:buNone/>
            </a:pPr>
            <a:r>
              <a:rPr lang="en-US" sz="1400" b="1" dirty="0">
                <a:solidFill>
                  <a:srgbClr val="8FC8C0"/>
                </a:solidFill>
                <a:latin typeface="Arial" pitchFamily="34" charset="0"/>
                <a:ea typeface="Arial" pitchFamily="34" charset="-122"/>
                <a:cs typeface="Arial" pitchFamily="34" charset="-120"/>
              </a:rPr>
              <a:t>The test set is sealed</a:t>
            </a:r>
            <a:endParaRPr lang="en-US" sz="1400" dirty="0"/>
          </a:p>
        </p:txBody>
      </p:sp>
      <p:sp>
        <p:nvSpPr>
          <p:cNvPr id="29" name="Text 25"/>
          <p:cNvSpPr txBox="1"/>
          <p:nvPr/>
        </p:nvSpPr>
        <p:spPr>
          <a:xfrm>
            <a:off x="8092440" y="2606040"/>
            <a:ext cx="3291840" cy="100584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It is used once, at the very end. Every decision about training and model choice was made on validation data only.</a:t>
            </a:r>
            <a:endParaRPr lang="en-US" sz="1250" dirty="0"/>
          </a:p>
        </p:txBody>
      </p:sp>
      <p:sp>
        <p:nvSpPr>
          <p:cNvPr id="30" name="Shape 26"/>
          <p:cNvSpPr/>
          <p:nvPr/>
        </p:nvSpPr>
        <p:spPr>
          <a:xfrm>
            <a:off x="7863840" y="4023360"/>
            <a:ext cx="3776472" cy="2194560"/>
          </a:xfrm>
          <a:prstGeom prst="roundRect">
            <a:avLst>
              <a:gd name="adj" fmla="val 3333"/>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31" name="Shape 27"/>
          <p:cNvSpPr/>
          <p:nvPr/>
        </p:nvSpPr>
        <p:spPr>
          <a:xfrm>
            <a:off x="7863840" y="4133088"/>
            <a:ext cx="41148" cy="1975104"/>
          </a:xfrm>
          <a:prstGeom prst="rect">
            <a:avLst/>
          </a:prstGeom>
          <a:solidFill>
            <a:srgbClr val="A9C7A9"/>
          </a:solidFill>
          <a:ln w="12700">
            <a:solidFill>
              <a:srgbClr val="333333"/>
            </a:solidFill>
            <a:prstDash val="solid"/>
          </a:ln>
        </p:spPr>
      </p:sp>
      <p:sp>
        <p:nvSpPr>
          <p:cNvPr id="32" name="Shape 28"/>
          <p:cNvSpPr/>
          <p:nvPr/>
        </p:nvSpPr>
        <p:spPr>
          <a:xfrm>
            <a:off x="8092440" y="4233672"/>
            <a:ext cx="566928" cy="566928"/>
          </a:xfrm>
          <a:prstGeom prst="roundRect">
            <a:avLst>
              <a:gd name="adj" fmla="val 35484"/>
            </a:avLst>
          </a:prstGeom>
          <a:solidFill>
            <a:srgbClr val="232A33"/>
          </a:solidFill>
          <a:ln w="12700">
            <a:solidFill>
              <a:srgbClr val="2E3640"/>
            </a:solidFill>
            <a:prstDash val="solid"/>
          </a:ln>
        </p:spPr>
      </p:sp>
      <p:pic>
        <p:nvPicPr>
          <p:cNvPr id="33" name="Image 2" descr="preencoded.png">    </p:cNvPr>
          <p:cNvPicPr>
            <a:picLocks noChangeAspect="1"/>
          </p:cNvPicPr>
          <p:nvPr/>
        </p:nvPicPr>
        <p:blipFill>
          <a:blip r:embed="rId4"/>
          <a:stretch>
            <a:fillRect/>
          </a:stretch>
        </p:blipFill>
        <p:spPr>
          <a:xfrm>
            <a:off x="8228503" y="4369735"/>
            <a:ext cx="294803" cy="294803"/>
          </a:xfrm>
          <a:prstGeom prst="rect">
            <a:avLst/>
          </a:prstGeom>
        </p:spPr>
      </p:pic>
      <p:sp>
        <p:nvSpPr>
          <p:cNvPr id="34" name="Text 29"/>
          <p:cNvSpPr txBox="1"/>
          <p:nvPr/>
        </p:nvSpPr>
        <p:spPr>
          <a:xfrm>
            <a:off x="8805672" y="4270248"/>
            <a:ext cx="2651760" cy="320040"/>
          </a:xfrm>
          <a:prstGeom prst="rect">
            <a:avLst/>
          </a:prstGeom>
          <a:noFill/>
          <a:ln/>
        </p:spPr>
        <p:txBody>
          <a:bodyPr wrap="square" lIns="0" tIns="0" rIns="0" bIns="0" rtlCol="0" anchor="t"/>
          <a:lstStyle/>
          <a:p>
            <a:pPr indent="0" marL="0">
              <a:buNone/>
            </a:pPr>
            <a:r>
              <a:rPr lang="en-US" sz="1400" b="1" dirty="0">
                <a:solidFill>
                  <a:srgbClr val="A9C7A9"/>
                </a:solidFill>
                <a:latin typeface="Arial" pitchFamily="34" charset="0"/>
                <a:ea typeface="Arial" pitchFamily="34" charset="-122"/>
                <a:cs typeface="Arial" pitchFamily="34" charset="-120"/>
              </a:rPr>
              <a:t>Two leakage checks</a:t>
            </a:r>
            <a:endParaRPr lang="en-US" sz="1400" dirty="0"/>
          </a:p>
        </p:txBody>
      </p:sp>
      <p:sp>
        <p:nvSpPr>
          <p:cNvPr id="35" name="Text 30"/>
          <p:cNvSpPr txBox="1"/>
          <p:nvPr/>
        </p:nvSpPr>
        <p:spPr>
          <a:xfrm>
            <a:off x="8138160" y="4937760"/>
            <a:ext cx="3291840" cy="118872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ECEFF3"/>
                </a:solidFill>
                <a:latin typeface="Calibri" pitchFamily="34" charset="0"/>
                <a:ea typeface="Calibri" pitchFamily="34" charset="-122"/>
                <a:cs typeface="Calibri" pitchFamily="34" charset="-120"/>
              </a:rPr>
              <a:t>Filename check: no image listed in two splits</a:t>
            </a:r>
            <a:endParaRPr lang="en-US" sz="1150" dirty="0"/>
          </a:p>
          <a:p>
            <a:pPr marL="342900" indent="-342900">
              <a:spcAft>
                <a:spcPts val="500"/>
              </a:spcAft>
              <a:buSzPct val="100000"/>
              <a:buChar char="•"/>
            </a:pPr>
            <a:r>
              <a:rPr lang="en-US" sz="1150" dirty="0">
                <a:solidFill>
                  <a:srgbClr val="ECEFF3"/>
                </a:solidFill>
                <a:latin typeface="Calibri" pitchFamily="34" charset="0"/>
                <a:ea typeface="Calibri" pitchFamily="34" charset="-122"/>
                <a:cs typeface="Calibri" pitchFamily="34" charset="-120"/>
              </a:rPr>
              <a:t>MD5 content hash: catches the same image copied under another name</a:t>
            </a:r>
            <a:endParaRPr lang="en-US" sz="1150" dirty="0"/>
          </a:p>
          <a:p>
            <a:pPr marL="342900" indent="-342900">
              <a:spcAft>
                <a:spcPts val="500"/>
              </a:spcAft>
              <a:buSzPct val="100000"/>
              <a:buChar char="•"/>
            </a:pPr>
            <a:r>
              <a:rPr lang="en-US" sz="1150" dirty="0">
                <a:solidFill>
                  <a:srgbClr val="ECEFF3"/>
                </a:solidFill>
                <a:latin typeface="Calibri" pitchFamily="34" charset="0"/>
                <a:ea typeface="Calibri" pitchFamily="34" charset="-122"/>
                <a:cs typeface="Calibri" pitchFamily="34" charset="-120"/>
              </a:rPr>
              <a:t>Both passed, and a failure raises an error rather than a warning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04  ·  PREPROCESSING</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Same shape for every image, extra variety for training</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05</a:t>
            </a:r>
            <a:endParaRPr lang="en-US" sz="950" dirty="0"/>
          </a:p>
        </p:txBody>
      </p:sp>
      <p:sp>
        <p:nvSpPr>
          <p:cNvPr id="7" name="Shape 5"/>
          <p:cNvSpPr/>
          <p:nvPr/>
        </p:nvSpPr>
        <p:spPr>
          <a:xfrm>
            <a:off x="548640" y="1691640"/>
            <a:ext cx="7040880" cy="3108960"/>
          </a:xfrm>
          <a:prstGeom prst="roundRect">
            <a:avLst>
              <a:gd name="adj" fmla="val 2353"/>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8" name="Image 0" descr="/home/claude/steel/img/c26_0.png">    </p:cNvPr>
          <p:cNvPicPr>
            <a:picLocks noChangeAspect="1"/>
          </p:cNvPicPr>
          <p:nvPr/>
        </p:nvPicPr>
        <p:blipFill>
          <a:blip r:embed="rId2"/>
          <a:stretch>
            <a:fillRect/>
          </a:stretch>
        </p:blipFill>
        <p:spPr>
          <a:xfrm>
            <a:off x="694727" y="1801368"/>
            <a:ext cx="6748706" cy="2889504"/>
          </a:xfrm>
          <a:prstGeom prst="rect">
            <a:avLst/>
          </a:prstGeom>
        </p:spPr>
      </p:pic>
      <p:sp>
        <p:nvSpPr>
          <p:cNvPr id="9" name="Text 6"/>
          <p:cNvSpPr txBox="1"/>
          <p:nvPr/>
        </p:nvSpPr>
        <p:spPr>
          <a:xfrm>
            <a:off x="548640" y="4956048"/>
            <a:ext cx="7040880" cy="640080"/>
          </a:xfrm>
          <a:prstGeom prst="rect">
            <a:avLst/>
          </a:prstGeom>
          <a:noFill/>
          <a:ln/>
        </p:spPr>
        <p:txBody>
          <a:bodyPr wrap="square" lIns="0" tIns="0" rIns="0" bIns="0" rtlCol="0" anchor="t"/>
          <a:lstStyle/>
          <a:p>
            <a:pPr indent="0" marL="0">
              <a:buNone/>
            </a:pPr>
            <a:r>
              <a:rPr lang="en-US" sz="1200" i="1" dirty="0">
                <a:solidFill>
                  <a:srgbClr val="98A2B0"/>
                </a:solidFill>
                <a:latin typeface="Calibri" pitchFamily="34" charset="0"/>
                <a:ea typeface="Calibri" pitchFamily="34" charset="-122"/>
                <a:cs typeface="Calibri" pitchFamily="34" charset="-120"/>
              </a:rPr>
              <a:t>One training image, augmented nine different ways. Augmentation layers live inside the model, so they are active during training and switched off automatically for validation and test.</a:t>
            </a:r>
            <a:endParaRPr lang="en-US" sz="1200" dirty="0"/>
          </a:p>
        </p:txBody>
      </p:sp>
      <p:sp>
        <p:nvSpPr>
          <p:cNvPr id="10" name="Shape 7"/>
          <p:cNvSpPr/>
          <p:nvPr/>
        </p:nvSpPr>
        <p:spPr>
          <a:xfrm>
            <a:off x="7863840" y="1691640"/>
            <a:ext cx="3776472" cy="1353312"/>
          </a:xfrm>
          <a:prstGeom prst="roundRect">
            <a:avLst>
              <a:gd name="adj" fmla="val 540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1" name="Shape 8"/>
          <p:cNvSpPr/>
          <p:nvPr/>
        </p:nvSpPr>
        <p:spPr>
          <a:xfrm>
            <a:off x="7863840" y="1801368"/>
            <a:ext cx="41148" cy="1133856"/>
          </a:xfrm>
          <a:prstGeom prst="rect">
            <a:avLst/>
          </a:prstGeom>
          <a:solidFill>
            <a:srgbClr val="9DB8D9"/>
          </a:solidFill>
          <a:ln w="12700">
            <a:solidFill>
              <a:srgbClr val="333333"/>
            </a:solidFill>
            <a:prstDash val="solid"/>
          </a:ln>
        </p:spPr>
      </p:sp>
      <p:sp>
        <p:nvSpPr>
          <p:cNvPr id="12" name="Shape 9"/>
          <p:cNvSpPr/>
          <p:nvPr/>
        </p:nvSpPr>
        <p:spPr>
          <a:xfrm>
            <a:off x="8092440" y="1874520"/>
            <a:ext cx="548640" cy="548640"/>
          </a:xfrm>
          <a:prstGeom prst="roundRect">
            <a:avLst>
              <a:gd name="adj" fmla="val 36667"/>
            </a:avLst>
          </a:prstGeom>
          <a:solidFill>
            <a:srgbClr val="232A33"/>
          </a:solidFill>
          <a:ln w="12700">
            <a:solidFill>
              <a:srgbClr val="2E3640"/>
            </a:solidFill>
            <a:prstDash val="solid"/>
          </a:ln>
        </p:spPr>
      </p:sp>
      <p:pic>
        <p:nvPicPr>
          <p:cNvPr id="13" name="Image 1" descr="preencoded.png">    </p:cNvPr>
          <p:cNvPicPr>
            <a:picLocks noChangeAspect="1"/>
          </p:cNvPicPr>
          <p:nvPr/>
        </p:nvPicPr>
        <p:blipFill>
          <a:blip r:embed="rId3"/>
          <a:stretch>
            <a:fillRect/>
          </a:stretch>
        </p:blipFill>
        <p:spPr>
          <a:xfrm>
            <a:off x="8224114" y="2006194"/>
            <a:ext cx="285293" cy="285293"/>
          </a:xfrm>
          <a:prstGeom prst="rect">
            <a:avLst/>
          </a:prstGeom>
        </p:spPr>
      </p:pic>
      <p:sp>
        <p:nvSpPr>
          <p:cNvPr id="14" name="Text 10"/>
          <p:cNvSpPr txBox="1"/>
          <p:nvPr/>
        </p:nvSpPr>
        <p:spPr>
          <a:xfrm>
            <a:off x="8805672" y="1911096"/>
            <a:ext cx="2651760" cy="320040"/>
          </a:xfrm>
          <a:prstGeom prst="rect">
            <a:avLst/>
          </a:prstGeom>
          <a:noFill/>
          <a:ln/>
        </p:spPr>
        <p:txBody>
          <a:bodyPr wrap="square" lIns="0" tIns="0" rIns="0" bIns="0" rtlCol="0" anchor="t"/>
          <a:lstStyle/>
          <a:p>
            <a:pPr indent="0" marL="0">
              <a:buNone/>
            </a:pPr>
            <a:r>
              <a:rPr lang="en-US" sz="1350" b="1" dirty="0">
                <a:solidFill>
                  <a:srgbClr val="9DB8D9"/>
                </a:solidFill>
                <a:latin typeface="Arial" pitchFamily="34" charset="0"/>
                <a:ea typeface="Arial" pitchFamily="34" charset="-122"/>
                <a:cs typeface="Arial" pitchFamily="34" charset="-120"/>
              </a:rPr>
              <a:t>Resize to 224 × 224</a:t>
            </a:r>
            <a:endParaRPr lang="en-US" sz="1350" dirty="0"/>
          </a:p>
        </p:txBody>
      </p:sp>
      <p:sp>
        <p:nvSpPr>
          <p:cNvPr id="15" name="Text 11"/>
          <p:cNvSpPr txBox="1"/>
          <p:nvPr/>
        </p:nvSpPr>
        <p:spPr>
          <a:xfrm>
            <a:off x="8092440" y="2532888"/>
            <a:ext cx="3337560" cy="457200"/>
          </a:xfrm>
          <a:prstGeom prst="rect">
            <a:avLst/>
          </a:prstGeom>
          <a:noFill/>
          <a:ln/>
        </p:spPr>
        <p:txBody>
          <a:bodyPr wrap="square" lIns="0" tIns="0" rIns="0" bIns="0" rtlCol="0" anchor="t"/>
          <a:lstStyle/>
          <a:p>
            <a:pPr indent="0" marL="0">
              <a:buNone/>
            </a:pPr>
            <a:r>
              <a:rPr lang="en-US" sz="1200" dirty="0">
                <a:solidFill>
                  <a:srgbClr val="ECEFF3"/>
                </a:solidFill>
                <a:latin typeface="Calibri" pitchFamily="34" charset="0"/>
                <a:ea typeface="Calibri" pitchFamily="34" charset="-122"/>
                <a:cs typeface="Calibri" pitchFamily="34" charset="-120"/>
              </a:rPr>
              <a:t>EfficientNetB0's native input size</a:t>
            </a:r>
            <a:endParaRPr lang="en-US" sz="1200" dirty="0"/>
          </a:p>
        </p:txBody>
      </p:sp>
      <p:sp>
        <p:nvSpPr>
          <p:cNvPr id="16" name="Shape 12"/>
          <p:cNvSpPr/>
          <p:nvPr/>
        </p:nvSpPr>
        <p:spPr>
          <a:xfrm>
            <a:off x="7863840" y="3227832"/>
            <a:ext cx="3776472" cy="1353312"/>
          </a:xfrm>
          <a:prstGeom prst="roundRect">
            <a:avLst>
              <a:gd name="adj" fmla="val 540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7" name="Shape 13"/>
          <p:cNvSpPr/>
          <p:nvPr/>
        </p:nvSpPr>
        <p:spPr>
          <a:xfrm>
            <a:off x="7863840" y="3337560"/>
            <a:ext cx="41148" cy="1133856"/>
          </a:xfrm>
          <a:prstGeom prst="rect">
            <a:avLst/>
          </a:prstGeom>
          <a:solidFill>
            <a:srgbClr val="B9AFD4"/>
          </a:solidFill>
          <a:ln w="12700">
            <a:solidFill>
              <a:srgbClr val="333333"/>
            </a:solidFill>
            <a:prstDash val="solid"/>
          </a:ln>
        </p:spPr>
      </p:sp>
      <p:sp>
        <p:nvSpPr>
          <p:cNvPr id="18" name="Shape 14"/>
          <p:cNvSpPr/>
          <p:nvPr/>
        </p:nvSpPr>
        <p:spPr>
          <a:xfrm>
            <a:off x="8092440" y="3410712"/>
            <a:ext cx="548640" cy="548640"/>
          </a:xfrm>
          <a:prstGeom prst="roundRect">
            <a:avLst>
              <a:gd name="adj" fmla="val 36667"/>
            </a:avLst>
          </a:prstGeom>
          <a:solidFill>
            <a:srgbClr val="232A33"/>
          </a:solidFill>
          <a:ln w="12700">
            <a:solidFill>
              <a:srgbClr val="2E3640"/>
            </a:solidFill>
            <a:prstDash val="solid"/>
          </a:ln>
        </p:spPr>
      </p:sp>
      <p:pic>
        <p:nvPicPr>
          <p:cNvPr id="19" name="Image 2" descr="preencoded.png">    </p:cNvPr>
          <p:cNvPicPr>
            <a:picLocks noChangeAspect="1"/>
          </p:cNvPicPr>
          <p:nvPr/>
        </p:nvPicPr>
        <p:blipFill>
          <a:blip r:embed="rId4"/>
          <a:stretch>
            <a:fillRect/>
          </a:stretch>
        </p:blipFill>
        <p:spPr>
          <a:xfrm>
            <a:off x="8224114" y="3542386"/>
            <a:ext cx="285293" cy="285293"/>
          </a:xfrm>
          <a:prstGeom prst="rect">
            <a:avLst/>
          </a:prstGeom>
        </p:spPr>
      </p:pic>
      <p:sp>
        <p:nvSpPr>
          <p:cNvPr id="20" name="Text 15"/>
          <p:cNvSpPr txBox="1"/>
          <p:nvPr/>
        </p:nvSpPr>
        <p:spPr>
          <a:xfrm>
            <a:off x="8805672" y="3447288"/>
            <a:ext cx="2651760" cy="320040"/>
          </a:xfrm>
          <a:prstGeom prst="rect">
            <a:avLst/>
          </a:prstGeom>
          <a:noFill/>
          <a:ln/>
        </p:spPr>
        <p:txBody>
          <a:bodyPr wrap="square" lIns="0" tIns="0" rIns="0" bIns="0" rtlCol="0" anchor="t"/>
          <a:lstStyle/>
          <a:p>
            <a:pPr indent="0" marL="0">
              <a:buNone/>
            </a:pPr>
            <a:r>
              <a:rPr lang="en-US" sz="1350" b="1" dirty="0">
                <a:solidFill>
                  <a:srgbClr val="B9AFD4"/>
                </a:solidFill>
                <a:latin typeface="Arial" pitchFamily="34" charset="0"/>
                <a:ea typeface="Arial" pitchFamily="34" charset="-122"/>
                <a:cs typeface="Arial" pitchFamily="34" charset="-120"/>
              </a:rPr>
              <a:t>Grayscale → 3 channels</a:t>
            </a:r>
            <a:endParaRPr lang="en-US" sz="1350" dirty="0"/>
          </a:p>
        </p:txBody>
      </p:sp>
      <p:sp>
        <p:nvSpPr>
          <p:cNvPr id="21" name="Text 16"/>
          <p:cNvSpPr txBox="1"/>
          <p:nvPr/>
        </p:nvSpPr>
        <p:spPr>
          <a:xfrm>
            <a:off x="8092440" y="4069080"/>
            <a:ext cx="3337560" cy="457200"/>
          </a:xfrm>
          <a:prstGeom prst="rect">
            <a:avLst/>
          </a:prstGeom>
          <a:noFill/>
          <a:ln/>
        </p:spPr>
        <p:txBody>
          <a:bodyPr wrap="square" lIns="0" tIns="0" rIns="0" bIns="0" rtlCol="0" anchor="t"/>
          <a:lstStyle/>
          <a:p>
            <a:pPr indent="0" marL="0">
              <a:buNone/>
            </a:pPr>
            <a:r>
              <a:rPr lang="en-US" sz="1200" dirty="0">
                <a:solidFill>
                  <a:srgbClr val="ECEFF3"/>
                </a:solidFill>
                <a:latin typeface="Calibri" pitchFamily="34" charset="0"/>
                <a:ea typeface="Calibri" pitchFamily="34" charset="-122"/>
                <a:cs typeface="Calibri" pitchFamily="34" charset="-120"/>
              </a:rPr>
              <a:t>The grey channel is copied so ImageNet weights still apply</a:t>
            </a:r>
            <a:endParaRPr lang="en-US" sz="1200" dirty="0"/>
          </a:p>
        </p:txBody>
      </p:sp>
      <p:sp>
        <p:nvSpPr>
          <p:cNvPr id="22" name="Shape 17"/>
          <p:cNvSpPr/>
          <p:nvPr/>
        </p:nvSpPr>
        <p:spPr>
          <a:xfrm>
            <a:off x="7863840" y="4764024"/>
            <a:ext cx="3776472" cy="1353312"/>
          </a:xfrm>
          <a:prstGeom prst="roundRect">
            <a:avLst>
              <a:gd name="adj" fmla="val 540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3" name="Shape 18"/>
          <p:cNvSpPr/>
          <p:nvPr/>
        </p:nvSpPr>
        <p:spPr>
          <a:xfrm>
            <a:off x="7863840" y="4873752"/>
            <a:ext cx="41148" cy="1133856"/>
          </a:xfrm>
          <a:prstGeom prst="rect">
            <a:avLst/>
          </a:prstGeom>
          <a:solidFill>
            <a:srgbClr val="E3C79A"/>
          </a:solidFill>
          <a:ln w="12700">
            <a:solidFill>
              <a:srgbClr val="333333"/>
            </a:solidFill>
            <a:prstDash val="solid"/>
          </a:ln>
        </p:spPr>
      </p:sp>
      <p:sp>
        <p:nvSpPr>
          <p:cNvPr id="24" name="Shape 19"/>
          <p:cNvSpPr/>
          <p:nvPr/>
        </p:nvSpPr>
        <p:spPr>
          <a:xfrm>
            <a:off x="8092440" y="4946904"/>
            <a:ext cx="548640" cy="548640"/>
          </a:xfrm>
          <a:prstGeom prst="roundRect">
            <a:avLst>
              <a:gd name="adj" fmla="val 36667"/>
            </a:avLst>
          </a:prstGeom>
          <a:solidFill>
            <a:srgbClr val="232A33"/>
          </a:solidFill>
          <a:ln w="12700">
            <a:solidFill>
              <a:srgbClr val="2E3640"/>
            </a:solidFill>
            <a:prstDash val="solid"/>
          </a:ln>
        </p:spPr>
      </p:sp>
      <p:pic>
        <p:nvPicPr>
          <p:cNvPr id="25" name="Image 3" descr="preencoded.png">    </p:cNvPr>
          <p:cNvPicPr>
            <a:picLocks noChangeAspect="1"/>
          </p:cNvPicPr>
          <p:nvPr/>
        </p:nvPicPr>
        <p:blipFill>
          <a:blip r:embed="rId5"/>
          <a:stretch>
            <a:fillRect/>
          </a:stretch>
        </p:blipFill>
        <p:spPr>
          <a:xfrm>
            <a:off x="8224114" y="5078578"/>
            <a:ext cx="285293" cy="285293"/>
          </a:xfrm>
          <a:prstGeom prst="rect">
            <a:avLst/>
          </a:prstGeom>
        </p:spPr>
      </p:pic>
      <p:sp>
        <p:nvSpPr>
          <p:cNvPr id="26" name="Text 20"/>
          <p:cNvSpPr txBox="1"/>
          <p:nvPr/>
        </p:nvSpPr>
        <p:spPr>
          <a:xfrm>
            <a:off x="8805672" y="4983480"/>
            <a:ext cx="2651760" cy="320040"/>
          </a:xfrm>
          <a:prstGeom prst="rect">
            <a:avLst/>
          </a:prstGeom>
          <a:noFill/>
          <a:ln/>
        </p:spPr>
        <p:txBody>
          <a:bodyPr wrap="square" lIns="0" tIns="0" rIns="0" bIns="0" rtlCol="0" anchor="t"/>
          <a:lstStyle/>
          <a:p>
            <a:pPr indent="0" marL="0">
              <a:buNone/>
            </a:pPr>
            <a:r>
              <a:rPr lang="en-US" sz="1350" b="1" dirty="0">
                <a:solidFill>
                  <a:srgbClr val="E3C79A"/>
                </a:solidFill>
                <a:latin typeface="Arial" pitchFamily="34" charset="0"/>
                <a:ea typeface="Arial" pitchFamily="34" charset="-122"/>
                <a:cs typeface="Arial" pitchFamily="34" charset="-120"/>
              </a:rPr>
              <a:t>Augmentation, training only</a:t>
            </a:r>
            <a:endParaRPr lang="en-US" sz="1350" dirty="0"/>
          </a:p>
        </p:txBody>
      </p:sp>
      <p:sp>
        <p:nvSpPr>
          <p:cNvPr id="27" name="Text 21"/>
          <p:cNvSpPr txBox="1"/>
          <p:nvPr/>
        </p:nvSpPr>
        <p:spPr>
          <a:xfrm>
            <a:off x="8092440" y="5605272"/>
            <a:ext cx="3337560" cy="457200"/>
          </a:xfrm>
          <a:prstGeom prst="rect">
            <a:avLst/>
          </a:prstGeom>
          <a:noFill/>
          <a:ln/>
        </p:spPr>
        <p:txBody>
          <a:bodyPr wrap="square" lIns="0" tIns="0" rIns="0" bIns="0" rtlCol="0" anchor="t"/>
          <a:lstStyle/>
          <a:p>
            <a:pPr indent="0" marL="0">
              <a:buNone/>
            </a:pPr>
            <a:r>
              <a:rPr lang="en-US" sz="1200" dirty="0">
                <a:solidFill>
                  <a:srgbClr val="ECEFF3"/>
                </a:solidFill>
                <a:latin typeface="Calibri" pitchFamily="34" charset="0"/>
                <a:ea typeface="Calibri" pitchFamily="34" charset="-122"/>
                <a:cs typeface="Calibri" pitchFamily="34" charset="-120"/>
              </a:rPr>
              <a:t>Flips, ±5% rotation, 10% zoom and shift, 15% contrast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05  ·  THE MODEL</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Transfer learning: borrow ImageNet's eyes, teach it steel</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06</a:t>
            </a:r>
            <a:endParaRPr lang="en-US" sz="950" dirty="0"/>
          </a:p>
        </p:txBody>
      </p:sp>
      <p:sp>
        <p:nvSpPr>
          <p:cNvPr id="7" name="Shape 5"/>
          <p:cNvSpPr/>
          <p:nvPr/>
        </p:nvSpPr>
        <p:spPr>
          <a:xfrm>
            <a:off x="548640" y="1645920"/>
            <a:ext cx="11091672" cy="1371600"/>
          </a:xfrm>
          <a:prstGeom prst="roundRect">
            <a:avLst>
              <a:gd name="adj" fmla="val 5333"/>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8" name="Shape 6"/>
          <p:cNvSpPr/>
          <p:nvPr/>
        </p:nvSpPr>
        <p:spPr>
          <a:xfrm>
            <a:off x="548640" y="1755648"/>
            <a:ext cx="41148" cy="1152144"/>
          </a:xfrm>
          <a:prstGeom prst="rect">
            <a:avLst/>
          </a:prstGeom>
          <a:solidFill>
            <a:srgbClr val="9DB8D9"/>
          </a:solidFill>
          <a:ln w="12700">
            <a:solidFill>
              <a:srgbClr val="333333"/>
            </a:solidFill>
            <a:prstDash val="solid"/>
          </a:ln>
        </p:spPr>
      </p:sp>
      <p:sp>
        <p:nvSpPr>
          <p:cNvPr id="9" name="Shape 7"/>
          <p:cNvSpPr/>
          <p:nvPr/>
        </p:nvSpPr>
        <p:spPr>
          <a:xfrm>
            <a:off x="777240" y="1847088"/>
            <a:ext cx="621792" cy="621792"/>
          </a:xfrm>
          <a:prstGeom prst="roundRect">
            <a:avLst>
              <a:gd name="adj" fmla="val 32353"/>
            </a:avLst>
          </a:prstGeom>
          <a:solidFill>
            <a:srgbClr val="232A33"/>
          </a:solidFill>
          <a:ln w="12700">
            <a:solidFill>
              <a:srgbClr val="2E3640"/>
            </a:solidFill>
            <a:prstDash val="solid"/>
          </a:ln>
        </p:spPr>
      </p:sp>
      <p:pic>
        <p:nvPicPr>
          <p:cNvPr id="10" name="Image 0" descr="preencoded.png">    </p:cNvPr>
          <p:cNvPicPr>
            <a:picLocks noChangeAspect="1"/>
          </p:cNvPicPr>
          <p:nvPr/>
        </p:nvPicPr>
        <p:blipFill>
          <a:blip r:embed="rId2"/>
          <a:stretch>
            <a:fillRect/>
          </a:stretch>
        </p:blipFill>
        <p:spPr>
          <a:xfrm>
            <a:off x="926470" y="1996318"/>
            <a:ext cx="323332" cy="323332"/>
          </a:xfrm>
          <a:prstGeom prst="rect">
            <a:avLst/>
          </a:prstGeom>
        </p:spPr>
      </p:pic>
      <p:sp>
        <p:nvSpPr>
          <p:cNvPr id="11" name="Text 8"/>
          <p:cNvSpPr txBox="1"/>
          <p:nvPr/>
        </p:nvSpPr>
        <p:spPr>
          <a:xfrm>
            <a:off x="1572768" y="1847088"/>
            <a:ext cx="3291840" cy="320040"/>
          </a:xfrm>
          <a:prstGeom prst="rect">
            <a:avLst/>
          </a:prstGeom>
          <a:noFill/>
          <a:ln/>
        </p:spPr>
        <p:txBody>
          <a:bodyPr wrap="square" lIns="0" tIns="0" rIns="0" bIns="0" rtlCol="0" anchor="t"/>
          <a:lstStyle/>
          <a:p>
            <a:pPr indent="0" marL="0">
              <a:buNone/>
            </a:pPr>
            <a:r>
              <a:rPr lang="en-US" sz="1500" b="1" dirty="0">
                <a:solidFill>
                  <a:srgbClr val="9DB8D9"/>
                </a:solidFill>
                <a:latin typeface="Arial" pitchFamily="34" charset="0"/>
                <a:ea typeface="Arial" pitchFamily="34" charset="-122"/>
                <a:cs typeface="Arial" pitchFamily="34" charset="-120"/>
              </a:rPr>
              <a:t>Why not train from scratch?</a:t>
            </a:r>
            <a:endParaRPr lang="en-US" sz="1500" dirty="0"/>
          </a:p>
        </p:txBody>
      </p:sp>
      <p:sp>
        <p:nvSpPr>
          <p:cNvPr id="12" name="Text 9"/>
          <p:cNvSpPr txBox="1"/>
          <p:nvPr/>
        </p:nvSpPr>
        <p:spPr>
          <a:xfrm>
            <a:off x="1572768" y="2212848"/>
            <a:ext cx="9829800" cy="685800"/>
          </a:xfrm>
          <a:prstGeom prst="rect">
            <a:avLst/>
          </a:prstGeom>
          <a:noFill/>
          <a:ln/>
        </p:spPr>
        <p:txBody>
          <a:bodyPr wrap="square" lIns="0" tIns="0" rIns="0" bIns="0" rtlCol="0" anchor="t"/>
          <a:lstStyle/>
          <a:p>
            <a:pPr indent="0" marL="0">
              <a:buNone/>
            </a:pPr>
            <a:r>
              <a:rPr lang="en-US" sz="1300" dirty="0">
                <a:solidFill>
                  <a:srgbClr val="ECEFF3"/>
                </a:solidFill>
                <a:latin typeface="Calibri" pitchFamily="34" charset="0"/>
                <a:ea typeface="Calibri" pitchFamily="34" charset="-122"/>
                <a:cs typeface="Calibri" pitchFamily="34" charset="-120"/>
              </a:rPr>
              <a:t>A CNN with millions of parameters and only a few hundred images per class memorises instantly. EfficientNetB0 has already learned edges, textures and repeating patterns from 1.2 million ImageNet photos, so we reuse that vocabulary and teach only the final decision.</a:t>
            </a:r>
            <a:endParaRPr lang="en-US" sz="1300" dirty="0"/>
          </a:p>
        </p:txBody>
      </p:sp>
      <p:sp>
        <p:nvSpPr>
          <p:cNvPr id="13" name="Shape 10"/>
          <p:cNvSpPr/>
          <p:nvPr/>
        </p:nvSpPr>
        <p:spPr>
          <a:xfrm>
            <a:off x="548640" y="3200400"/>
            <a:ext cx="5394960" cy="3017520"/>
          </a:xfrm>
          <a:prstGeom prst="roundRect">
            <a:avLst>
              <a:gd name="adj" fmla="val 242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4" name="Shape 11"/>
          <p:cNvSpPr/>
          <p:nvPr/>
        </p:nvSpPr>
        <p:spPr>
          <a:xfrm>
            <a:off x="548640" y="3310128"/>
            <a:ext cx="41148" cy="2798064"/>
          </a:xfrm>
          <a:prstGeom prst="rect">
            <a:avLst/>
          </a:prstGeom>
          <a:solidFill>
            <a:srgbClr val="A9C7A9"/>
          </a:solidFill>
          <a:ln w="12700">
            <a:solidFill>
              <a:srgbClr val="333333"/>
            </a:solidFill>
            <a:prstDash val="solid"/>
          </a:ln>
        </p:spPr>
      </p:sp>
      <p:sp>
        <p:nvSpPr>
          <p:cNvPr id="15" name="Shape 12"/>
          <p:cNvSpPr/>
          <p:nvPr/>
        </p:nvSpPr>
        <p:spPr>
          <a:xfrm>
            <a:off x="777240" y="3401568"/>
            <a:ext cx="621792" cy="621792"/>
          </a:xfrm>
          <a:prstGeom prst="roundRect">
            <a:avLst>
              <a:gd name="adj" fmla="val 32353"/>
            </a:avLst>
          </a:prstGeom>
          <a:solidFill>
            <a:srgbClr val="232A33"/>
          </a:solidFill>
          <a:ln w="12700">
            <a:solidFill>
              <a:srgbClr val="2E3640"/>
            </a:solidFill>
            <a:prstDash val="solid"/>
          </a:ln>
        </p:spPr>
      </p:sp>
      <p:pic>
        <p:nvPicPr>
          <p:cNvPr id="16" name="Image 1" descr="preencoded.png">    </p:cNvPr>
          <p:cNvPicPr>
            <a:picLocks noChangeAspect="1"/>
          </p:cNvPicPr>
          <p:nvPr/>
        </p:nvPicPr>
        <p:blipFill>
          <a:blip r:embed="rId3"/>
          <a:stretch>
            <a:fillRect/>
          </a:stretch>
        </p:blipFill>
        <p:spPr>
          <a:xfrm>
            <a:off x="926470" y="3550798"/>
            <a:ext cx="323332" cy="323332"/>
          </a:xfrm>
          <a:prstGeom prst="rect">
            <a:avLst/>
          </a:prstGeom>
        </p:spPr>
      </p:pic>
      <p:sp>
        <p:nvSpPr>
          <p:cNvPr id="17" name="Text 13"/>
          <p:cNvSpPr txBox="1"/>
          <p:nvPr/>
        </p:nvSpPr>
        <p:spPr>
          <a:xfrm>
            <a:off x="1572768" y="3456432"/>
            <a:ext cx="868680" cy="274320"/>
          </a:xfrm>
          <a:prstGeom prst="roundRect">
            <a:avLst>
              <a:gd name="adj" fmla="val 166667"/>
            </a:avLst>
          </a:prstGeom>
          <a:solidFill>
            <a:srgbClr val="232A33"/>
          </a:solidFill>
          <a:ln w="12700">
            <a:solidFill>
              <a:srgbClr val="A9C7A9"/>
            </a:solidFill>
          </a:ln>
        </p:spPr>
        <p:txBody>
          <a:bodyPr wrap="square" lIns="0" tIns="0" rIns="0" bIns="0" rtlCol="0" anchor="ctr"/>
          <a:lstStyle/>
          <a:p>
            <a:pPr algn="ctr" indent="0" marL="0">
              <a:buNone/>
            </a:pPr>
            <a:r>
              <a:rPr lang="en-US" sz="900" b="1" dirty="0">
                <a:solidFill>
                  <a:srgbClr val="A9C7A9"/>
                </a:solidFill>
                <a:latin typeface="Arial" pitchFamily="34" charset="0"/>
                <a:ea typeface="Arial" pitchFamily="34" charset="-122"/>
                <a:cs typeface="Arial" pitchFamily="34" charset="-120"/>
              </a:rPr>
              <a:t>STAGE 1</a:t>
            </a:r>
            <a:endParaRPr lang="en-US" sz="900" dirty="0"/>
          </a:p>
        </p:txBody>
      </p:sp>
      <p:sp>
        <p:nvSpPr>
          <p:cNvPr id="18" name="Text 14"/>
          <p:cNvSpPr txBox="1"/>
          <p:nvPr/>
        </p:nvSpPr>
        <p:spPr>
          <a:xfrm>
            <a:off x="2560320" y="3429000"/>
            <a:ext cx="3200400" cy="365760"/>
          </a:xfrm>
          <a:prstGeom prst="rect">
            <a:avLst/>
          </a:prstGeom>
          <a:noFill/>
          <a:ln/>
        </p:spPr>
        <p:txBody>
          <a:bodyPr wrap="square" lIns="0" tIns="0" rIns="0" bIns="0" rtlCol="0" anchor="ctr"/>
          <a:lstStyle/>
          <a:p>
            <a:pPr indent="0" marL="0">
              <a:buNone/>
            </a:pPr>
            <a:r>
              <a:rPr lang="en-US" sz="1700" b="1" dirty="0">
                <a:solidFill>
                  <a:srgbClr val="A9C7A9"/>
                </a:solidFill>
                <a:latin typeface="Arial" pitchFamily="34" charset="0"/>
                <a:ea typeface="Arial" pitchFamily="34" charset="-122"/>
                <a:cs typeface="Arial" pitchFamily="34" charset="-120"/>
              </a:rPr>
              <a:t>Feature extraction</a:t>
            </a:r>
            <a:endParaRPr lang="en-US" sz="1700" dirty="0"/>
          </a:p>
        </p:txBody>
      </p:sp>
      <p:sp>
        <p:nvSpPr>
          <p:cNvPr id="19" name="Text 15"/>
          <p:cNvSpPr txBox="1"/>
          <p:nvPr/>
        </p:nvSpPr>
        <p:spPr>
          <a:xfrm>
            <a:off x="777240" y="420624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Backbone</a:t>
            </a:r>
            <a:endParaRPr lang="en-US" sz="1150" dirty="0"/>
          </a:p>
        </p:txBody>
      </p:sp>
      <p:sp>
        <p:nvSpPr>
          <p:cNvPr id="20" name="Text 16"/>
          <p:cNvSpPr txBox="1"/>
          <p:nvPr/>
        </p:nvSpPr>
        <p:spPr>
          <a:xfrm>
            <a:off x="2057400" y="420624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Frozen entirely</a:t>
            </a:r>
            <a:endParaRPr lang="en-US" sz="1250" dirty="0"/>
          </a:p>
        </p:txBody>
      </p:sp>
      <p:sp>
        <p:nvSpPr>
          <p:cNvPr id="21" name="Text 17"/>
          <p:cNvSpPr txBox="1"/>
          <p:nvPr/>
        </p:nvSpPr>
        <p:spPr>
          <a:xfrm>
            <a:off x="777240" y="470916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Trainable</a:t>
            </a:r>
            <a:endParaRPr lang="en-US" sz="1150" dirty="0"/>
          </a:p>
        </p:txBody>
      </p:sp>
      <p:sp>
        <p:nvSpPr>
          <p:cNvPr id="22" name="Text 18"/>
          <p:cNvSpPr txBox="1"/>
          <p:nvPr/>
        </p:nvSpPr>
        <p:spPr>
          <a:xfrm>
            <a:off x="2057400" y="470916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New head only: pooling, 30% dropout, 6-way softmax</a:t>
            </a:r>
            <a:endParaRPr lang="en-US" sz="1250" dirty="0"/>
          </a:p>
        </p:txBody>
      </p:sp>
      <p:sp>
        <p:nvSpPr>
          <p:cNvPr id="23" name="Text 19"/>
          <p:cNvSpPr txBox="1"/>
          <p:nvPr/>
        </p:nvSpPr>
        <p:spPr>
          <a:xfrm>
            <a:off x="777240" y="521208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Learning rate</a:t>
            </a:r>
            <a:endParaRPr lang="en-US" sz="1150" dirty="0"/>
          </a:p>
        </p:txBody>
      </p:sp>
      <p:sp>
        <p:nvSpPr>
          <p:cNvPr id="24" name="Text 20"/>
          <p:cNvSpPr txBox="1"/>
          <p:nvPr/>
        </p:nvSpPr>
        <p:spPr>
          <a:xfrm>
            <a:off x="2057400" y="521208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1e-3 (Adam), up to 20 epochs</a:t>
            </a:r>
            <a:endParaRPr lang="en-US" sz="1250" dirty="0"/>
          </a:p>
        </p:txBody>
      </p:sp>
      <p:sp>
        <p:nvSpPr>
          <p:cNvPr id="25" name="Text 21"/>
          <p:cNvSpPr txBox="1"/>
          <p:nvPr/>
        </p:nvSpPr>
        <p:spPr>
          <a:xfrm>
            <a:off x="777240" y="571500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Best validation</a:t>
            </a:r>
            <a:endParaRPr lang="en-US" sz="1150" dirty="0"/>
          </a:p>
        </p:txBody>
      </p:sp>
      <p:sp>
        <p:nvSpPr>
          <p:cNvPr id="26" name="Text 22"/>
          <p:cNvSpPr txBox="1"/>
          <p:nvPr/>
        </p:nvSpPr>
        <p:spPr>
          <a:xfrm>
            <a:off x="2057400" y="571500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98.61% accuracy</a:t>
            </a:r>
            <a:endParaRPr lang="en-US" sz="1250" dirty="0"/>
          </a:p>
        </p:txBody>
      </p:sp>
      <p:sp>
        <p:nvSpPr>
          <p:cNvPr id="27" name="Shape 23"/>
          <p:cNvSpPr/>
          <p:nvPr/>
        </p:nvSpPr>
        <p:spPr>
          <a:xfrm>
            <a:off x="6245352" y="3200400"/>
            <a:ext cx="5394960" cy="3017520"/>
          </a:xfrm>
          <a:prstGeom prst="roundRect">
            <a:avLst>
              <a:gd name="adj" fmla="val 242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8" name="Shape 24"/>
          <p:cNvSpPr/>
          <p:nvPr/>
        </p:nvSpPr>
        <p:spPr>
          <a:xfrm>
            <a:off x="6245352" y="3310128"/>
            <a:ext cx="41148" cy="2798064"/>
          </a:xfrm>
          <a:prstGeom prst="rect">
            <a:avLst/>
          </a:prstGeom>
          <a:solidFill>
            <a:srgbClr val="E3C79A"/>
          </a:solidFill>
          <a:ln w="12700">
            <a:solidFill>
              <a:srgbClr val="333333"/>
            </a:solidFill>
            <a:prstDash val="solid"/>
          </a:ln>
        </p:spPr>
      </p:sp>
      <p:sp>
        <p:nvSpPr>
          <p:cNvPr id="29" name="Shape 25"/>
          <p:cNvSpPr/>
          <p:nvPr/>
        </p:nvSpPr>
        <p:spPr>
          <a:xfrm>
            <a:off x="6473952" y="3401568"/>
            <a:ext cx="621792" cy="621792"/>
          </a:xfrm>
          <a:prstGeom prst="roundRect">
            <a:avLst>
              <a:gd name="adj" fmla="val 32353"/>
            </a:avLst>
          </a:prstGeom>
          <a:solidFill>
            <a:srgbClr val="232A33"/>
          </a:solidFill>
          <a:ln w="12700">
            <a:solidFill>
              <a:srgbClr val="2E3640"/>
            </a:solidFill>
            <a:prstDash val="solid"/>
          </a:ln>
        </p:spPr>
      </p:sp>
      <p:pic>
        <p:nvPicPr>
          <p:cNvPr id="30" name="Image 2" descr="preencoded.png">    </p:cNvPr>
          <p:cNvPicPr>
            <a:picLocks noChangeAspect="1"/>
          </p:cNvPicPr>
          <p:nvPr/>
        </p:nvPicPr>
        <p:blipFill>
          <a:blip r:embed="rId4"/>
          <a:stretch>
            <a:fillRect/>
          </a:stretch>
        </p:blipFill>
        <p:spPr>
          <a:xfrm>
            <a:off x="6623182" y="3550798"/>
            <a:ext cx="323332" cy="323332"/>
          </a:xfrm>
          <a:prstGeom prst="rect">
            <a:avLst/>
          </a:prstGeom>
        </p:spPr>
      </p:pic>
      <p:sp>
        <p:nvSpPr>
          <p:cNvPr id="31" name="Text 26"/>
          <p:cNvSpPr txBox="1"/>
          <p:nvPr/>
        </p:nvSpPr>
        <p:spPr>
          <a:xfrm>
            <a:off x="7269480" y="3456432"/>
            <a:ext cx="868680" cy="274320"/>
          </a:xfrm>
          <a:prstGeom prst="roundRect">
            <a:avLst>
              <a:gd name="adj" fmla="val 166667"/>
            </a:avLst>
          </a:prstGeom>
          <a:solidFill>
            <a:srgbClr val="232A33"/>
          </a:solidFill>
          <a:ln w="12700">
            <a:solidFill>
              <a:srgbClr val="E3C79A"/>
            </a:solidFill>
          </a:ln>
        </p:spPr>
        <p:txBody>
          <a:bodyPr wrap="square" lIns="0" tIns="0" rIns="0" bIns="0" rtlCol="0" anchor="ctr"/>
          <a:lstStyle/>
          <a:p>
            <a:pPr algn="ctr" indent="0" marL="0">
              <a:buNone/>
            </a:pPr>
            <a:r>
              <a:rPr lang="en-US" sz="900" b="1" dirty="0">
                <a:solidFill>
                  <a:srgbClr val="E3C79A"/>
                </a:solidFill>
                <a:latin typeface="Arial" pitchFamily="34" charset="0"/>
                <a:ea typeface="Arial" pitchFamily="34" charset="-122"/>
                <a:cs typeface="Arial" pitchFamily="34" charset="-120"/>
              </a:rPr>
              <a:t>STAGE 2</a:t>
            </a:r>
            <a:endParaRPr lang="en-US" sz="900" dirty="0"/>
          </a:p>
        </p:txBody>
      </p:sp>
      <p:sp>
        <p:nvSpPr>
          <p:cNvPr id="32" name="Text 27"/>
          <p:cNvSpPr txBox="1"/>
          <p:nvPr/>
        </p:nvSpPr>
        <p:spPr>
          <a:xfrm>
            <a:off x="8257032" y="3429000"/>
            <a:ext cx="3200400" cy="365760"/>
          </a:xfrm>
          <a:prstGeom prst="rect">
            <a:avLst/>
          </a:prstGeom>
          <a:noFill/>
          <a:ln/>
        </p:spPr>
        <p:txBody>
          <a:bodyPr wrap="square" lIns="0" tIns="0" rIns="0" bIns="0" rtlCol="0" anchor="ctr"/>
          <a:lstStyle/>
          <a:p>
            <a:pPr indent="0" marL="0">
              <a:buNone/>
            </a:pPr>
            <a:r>
              <a:rPr lang="en-US" sz="1700" b="1" dirty="0">
                <a:solidFill>
                  <a:srgbClr val="E3C79A"/>
                </a:solidFill>
                <a:latin typeface="Arial" pitchFamily="34" charset="0"/>
                <a:ea typeface="Arial" pitchFamily="34" charset="-122"/>
                <a:cs typeface="Arial" pitchFamily="34" charset="-120"/>
              </a:rPr>
              <a:t>Fine-tuning</a:t>
            </a:r>
            <a:endParaRPr lang="en-US" sz="1700" dirty="0"/>
          </a:p>
        </p:txBody>
      </p:sp>
      <p:sp>
        <p:nvSpPr>
          <p:cNvPr id="33" name="Text 28"/>
          <p:cNvSpPr txBox="1"/>
          <p:nvPr/>
        </p:nvSpPr>
        <p:spPr>
          <a:xfrm>
            <a:off x="6473952" y="420624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Backbone</a:t>
            </a:r>
            <a:endParaRPr lang="en-US" sz="1150" dirty="0"/>
          </a:p>
        </p:txBody>
      </p:sp>
      <p:sp>
        <p:nvSpPr>
          <p:cNvPr id="34" name="Text 29"/>
          <p:cNvSpPr txBox="1"/>
          <p:nvPr/>
        </p:nvSpPr>
        <p:spPr>
          <a:xfrm>
            <a:off x="7754112" y="420624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Top 30 of 238 layers unfrozen, BatchNorm kept frozen</a:t>
            </a:r>
            <a:endParaRPr lang="en-US" sz="1250" dirty="0"/>
          </a:p>
        </p:txBody>
      </p:sp>
      <p:sp>
        <p:nvSpPr>
          <p:cNvPr id="35" name="Text 30"/>
          <p:cNvSpPr txBox="1"/>
          <p:nvPr/>
        </p:nvSpPr>
        <p:spPr>
          <a:xfrm>
            <a:off x="6473952" y="470916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Trainable</a:t>
            </a:r>
            <a:endParaRPr lang="en-US" sz="1150" dirty="0"/>
          </a:p>
        </p:txBody>
      </p:sp>
      <p:sp>
        <p:nvSpPr>
          <p:cNvPr id="36" name="Text 31"/>
          <p:cNvSpPr txBox="1"/>
          <p:nvPr/>
        </p:nvSpPr>
        <p:spPr>
          <a:xfrm>
            <a:off x="7754112" y="470916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2,045,206 parameters</a:t>
            </a:r>
            <a:endParaRPr lang="en-US" sz="1250" dirty="0"/>
          </a:p>
        </p:txBody>
      </p:sp>
      <p:sp>
        <p:nvSpPr>
          <p:cNvPr id="37" name="Text 32"/>
          <p:cNvSpPr txBox="1"/>
          <p:nvPr/>
        </p:nvSpPr>
        <p:spPr>
          <a:xfrm>
            <a:off x="6473952" y="521208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Learning rate</a:t>
            </a:r>
            <a:endParaRPr lang="en-US" sz="1150" dirty="0"/>
          </a:p>
        </p:txBody>
      </p:sp>
      <p:sp>
        <p:nvSpPr>
          <p:cNvPr id="38" name="Text 33"/>
          <p:cNvSpPr txBox="1"/>
          <p:nvPr/>
        </p:nvSpPr>
        <p:spPr>
          <a:xfrm>
            <a:off x="7754112" y="521208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1e-5, 100× smaller, early stop at epoch 29</a:t>
            </a:r>
            <a:endParaRPr lang="en-US" sz="1250" dirty="0"/>
          </a:p>
        </p:txBody>
      </p:sp>
      <p:sp>
        <p:nvSpPr>
          <p:cNvPr id="39" name="Text 34"/>
          <p:cNvSpPr txBox="1"/>
          <p:nvPr/>
        </p:nvSpPr>
        <p:spPr>
          <a:xfrm>
            <a:off x="6473952" y="5715000"/>
            <a:ext cx="1234440" cy="411480"/>
          </a:xfrm>
          <a:prstGeom prst="rect">
            <a:avLst/>
          </a:prstGeom>
          <a:noFill/>
          <a:ln/>
        </p:spPr>
        <p:txBody>
          <a:bodyPr wrap="square" lIns="0" tIns="0" rIns="0" bIns="0" rtlCol="0" anchor="ctr"/>
          <a:lstStyle/>
          <a:p>
            <a:pPr indent="0" marL="0">
              <a:buNone/>
            </a:pPr>
            <a:r>
              <a:rPr lang="en-US" sz="1150" dirty="0">
                <a:solidFill>
                  <a:srgbClr val="98A2B0"/>
                </a:solidFill>
                <a:latin typeface="Calibri" pitchFamily="34" charset="0"/>
                <a:ea typeface="Calibri" pitchFamily="34" charset="-122"/>
                <a:cs typeface="Calibri" pitchFamily="34" charset="-120"/>
              </a:rPr>
              <a:t>Best validation</a:t>
            </a:r>
            <a:endParaRPr lang="en-US" sz="1150" dirty="0"/>
          </a:p>
        </p:txBody>
      </p:sp>
      <p:sp>
        <p:nvSpPr>
          <p:cNvPr id="40" name="Text 35"/>
          <p:cNvSpPr txBox="1"/>
          <p:nvPr/>
        </p:nvSpPr>
        <p:spPr>
          <a:xfrm>
            <a:off x="7754112" y="5715000"/>
            <a:ext cx="3657600" cy="411480"/>
          </a:xfrm>
          <a:prstGeom prst="rect">
            <a:avLst/>
          </a:prstGeom>
          <a:noFill/>
          <a:ln/>
        </p:spPr>
        <p:txBody>
          <a:bodyPr wrap="square" lIns="0" tIns="0" rIns="0" bIns="0" rtlCol="0" anchor="ctr"/>
          <a:lstStyle/>
          <a:p>
            <a:pPr indent="0" marL="0">
              <a:buNone/>
            </a:pPr>
            <a:r>
              <a:rPr lang="en-US" sz="1250" dirty="0">
                <a:solidFill>
                  <a:srgbClr val="ECEFF3"/>
                </a:solidFill>
                <a:latin typeface="Calibri" pitchFamily="34" charset="0"/>
                <a:ea typeface="Calibri" pitchFamily="34" charset="-122"/>
                <a:cs typeface="Calibri" pitchFamily="34" charset="-120"/>
              </a:rPr>
              <a:t>98.96% accuracy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06  ·  TRAINING &amp; SELECTION</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Fine-tuning won, and the choice was made on validation</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07</a:t>
            </a:r>
            <a:endParaRPr lang="en-US" sz="950" dirty="0"/>
          </a:p>
        </p:txBody>
      </p:sp>
      <p:sp>
        <p:nvSpPr>
          <p:cNvPr id="7" name="Shape 5"/>
          <p:cNvSpPr/>
          <p:nvPr/>
        </p:nvSpPr>
        <p:spPr>
          <a:xfrm>
            <a:off x="548640" y="1691640"/>
            <a:ext cx="7315200" cy="2788920"/>
          </a:xfrm>
          <a:prstGeom prst="roundRect">
            <a:avLst>
              <a:gd name="adj" fmla="val 2623"/>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8" name="Image 0" descr="/home/claude/steel/img/c35_0.png">    </p:cNvPr>
          <p:cNvPicPr>
            <a:picLocks noChangeAspect="1"/>
          </p:cNvPicPr>
          <p:nvPr/>
        </p:nvPicPr>
        <p:blipFill>
          <a:blip r:embed="rId2"/>
          <a:stretch>
            <a:fillRect/>
          </a:stretch>
        </p:blipFill>
        <p:spPr>
          <a:xfrm>
            <a:off x="658368" y="1843575"/>
            <a:ext cx="7095744" cy="2485051"/>
          </a:xfrm>
          <a:prstGeom prst="rect">
            <a:avLst/>
          </a:prstGeom>
        </p:spPr>
      </p:pic>
      <p:sp>
        <p:nvSpPr>
          <p:cNvPr id="9" name="Shape 6"/>
          <p:cNvSpPr/>
          <p:nvPr/>
        </p:nvSpPr>
        <p:spPr>
          <a:xfrm>
            <a:off x="548640" y="4663440"/>
            <a:ext cx="7315200" cy="1554480"/>
          </a:xfrm>
          <a:prstGeom prst="roundRect">
            <a:avLst>
              <a:gd name="adj" fmla="val 470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0" name="Shape 7"/>
          <p:cNvSpPr/>
          <p:nvPr/>
        </p:nvSpPr>
        <p:spPr>
          <a:xfrm>
            <a:off x="548640" y="4773168"/>
            <a:ext cx="41148" cy="1335024"/>
          </a:xfrm>
          <a:prstGeom prst="rect">
            <a:avLst/>
          </a:prstGeom>
          <a:solidFill>
            <a:srgbClr val="8FC8C0"/>
          </a:solidFill>
          <a:ln w="12700">
            <a:solidFill>
              <a:srgbClr val="333333"/>
            </a:solidFill>
            <a:prstDash val="solid"/>
          </a:ln>
        </p:spPr>
      </p:sp>
      <p:sp>
        <p:nvSpPr>
          <p:cNvPr id="11" name="Shape 8"/>
          <p:cNvSpPr/>
          <p:nvPr/>
        </p:nvSpPr>
        <p:spPr>
          <a:xfrm>
            <a:off x="777240" y="4892040"/>
            <a:ext cx="548640" cy="548640"/>
          </a:xfrm>
          <a:prstGeom prst="roundRect">
            <a:avLst>
              <a:gd name="adj" fmla="val 36667"/>
            </a:avLst>
          </a:prstGeom>
          <a:solidFill>
            <a:srgbClr val="232A33"/>
          </a:solidFill>
          <a:ln w="12700">
            <a:solidFill>
              <a:srgbClr val="2E3640"/>
            </a:solidFill>
            <a:prstDash val="solid"/>
          </a:ln>
        </p:spPr>
      </p:sp>
      <p:pic>
        <p:nvPicPr>
          <p:cNvPr id="12" name="Image 1" descr="preencoded.png">    </p:cNvPr>
          <p:cNvPicPr>
            <a:picLocks noChangeAspect="1"/>
          </p:cNvPicPr>
          <p:nvPr/>
        </p:nvPicPr>
        <p:blipFill>
          <a:blip r:embed="rId3"/>
          <a:stretch>
            <a:fillRect/>
          </a:stretch>
        </p:blipFill>
        <p:spPr>
          <a:xfrm>
            <a:off x="908914" y="5023714"/>
            <a:ext cx="285293" cy="285293"/>
          </a:xfrm>
          <a:prstGeom prst="rect">
            <a:avLst/>
          </a:prstGeom>
        </p:spPr>
      </p:pic>
      <p:sp>
        <p:nvSpPr>
          <p:cNvPr id="13" name="Text 9"/>
          <p:cNvSpPr txBox="1"/>
          <p:nvPr/>
        </p:nvSpPr>
        <p:spPr>
          <a:xfrm>
            <a:off x="1481328" y="4892040"/>
            <a:ext cx="5029200" cy="320040"/>
          </a:xfrm>
          <a:prstGeom prst="rect">
            <a:avLst/>
          </a:prstGeom>
          <a:noFill/>
          <a:ln/>
        </p:spPr>
        <p:txBody>
          <a:bodyPr wrap="square" lIns="0" tIns="0" rIns="0" bIns="0" rtlCol="0" anchor="t"/>
          <a:lstStyle/>
          <a:p>
            <a:pPr indent="0" marL="0">
              <a:buNone/>
            </a:pPr>
            <a:r>
              <a:rPr lang="en-US" sz="1400" b="1" dirty="0">
                <a:solidFill>
                  <a:srgbClr val="8FC8C0"/>
                </a:solidFill>
                <a:latin typeface="Arial" pitchFamily="34" charset="0"/>
                <a:ea typeface="Arial" pitchFamily="34" charset="-122"/>
                <a:cs typeface="Arial" pitchFamily="34" charset="-120"/>
              </a:rPr>
              <a:t>Training and validation curves stay together</a:t>
            </a:r>
            <a:endParaRPr lang="en-US" sz="1400" dirty="0"/>
          </a:p>
        </p:txBody>
      </p:sp>
      <p:sp>
        <p:nvSpPr>
          <p:cNvPr id="14" name="Text 10"/>
          <p:cNvSpPr txBox="1"/>
          <p:nvPr/>
        </p:nvSpPr>
        <p:spPr>
          <a:xfrm>
            <a:off x="777240" y="5440680"/>
            <a:ext cx="6858000" cy="64008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Final training accuracy 99.31% against validation 98.96%, a gap of just 0.35 points. The model is generalising rather than memorising the training images.</a:t>
            </a:r>
            <a:endParaRPr lang="en-US" sz="1250" dirty="0"/>
          </a:p>
        </p:txBody>
      </p:sp>
      <p:sp>
        <p:nvSpPr>
          <p:cNvPr id="15" name="Shape 11"/>
          <p:cNvSpPr/>
          <p:nvPr/>
        </p:nvSpPr>
        <p:spPr>
          <a:xfrm>
            <a:off x="8138160" y="1691640"/>
            <a:ext cx="3502152" cy="4526280"/>
          </a:xfrm>
          <a:prstGeom prst="roundRect">
            <a:avLst>
              <a:gd name="adj" fmla="val 2089"/>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6" name="Text 12"/>
          <p:cNvSpPr txBox="1"/>
          <p:nvPr/>
        </p:nvSpPr>
        <p:spPr>
          <a:xfrm>
            <a:off x="8366760" y="1874520"/>
            <a:ext cx="3017520" cy="320040"/>
          </a:xfrm>
          <a:prstGeom prst="rect">
            <a:avLst/>
          </a:prstGeom>
          <a:noFill/>
          <a:ln/>
        </p:spPr>
        <p:txBody>
          <a:bodyPr wrap="square" lIns="0" tIns="0" rIns="0" bIns="0" rtlCol="0" anchor="t"/>
          <a:lstStyle/>
          <a:p>
            <a:pPr indent="0" marL="0">
              <a:buNone/>
            </a:pPr>
            <a:r>
              <a:rPr lang="en-US" sz="1500" b="1" dirty="0">
                <a:solidFill>
                  <a:srgbClr val="ECEFF3"/>
                </a:solidFill>
                <a:latin typeface="Arial" pitchFamily="34" charset="0"/>
                <a:ea typeface="Arial" pitchFamily="34" charset="-122"/>
                <a:cs typeface="Arial" pitchFamily="34" charset="-120"/>
              </a:rPr>
              <a:t>Candidate comparison</a:t>
            </a:r>
            <a:endParaRPr lang="en-US" sz="1500" dirty="0"/>
          </a:p>
        </p:txBody>
      </p:sp>
      <p:sp>
        <p:nvSpPr>
          <p:cNvPr id="17" name="Text 13"/>
          <p:cNvSpPr txBox="1"/>
          <p:nvPr/>
        </p:nvSpPr>
        <p:spPr>
          <a:xfrm>
            <a:off x="8366760" y="2194560"/>
            <a:ext cx="301752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Scored on the validation split</a:t>
            </a:r>
            <a:endParaRPr lang="en-US" sz="1150" dirty="0"/>
          </a:p>
        </p:txBody>
      </p:sp>
      <p:sp>
        <p:nvSpPr>
          <p:cNvPr id="18" name="Shape 14"/>
          <p:cNvSpPr/>
          <p:nvPr/>
        </p:nvSpPr>
        <p:spPr>
          <a:xfrm>
            <a:off x="8366760" y="2606040"/>
            <a:ext cx="3044952" cy="1417320"/>
          </a:xfrm>
          <a:prstGeom prst="roundRect">
            <a:avLst>
              <a:gd name="adj" fmla="val 3871"/>
            </a:avLst>
          </a:prstGeom>
          <a:solidFill>
            <a:srgbClr val="232A33"/>
          </a:solidFill>
          <a:ln w="12700">
            <a:solidFill>
              <a:srgbClr val="2E3640"/>
            </a:solidFill>
            <a:prstDash val="solid"/>
          </a:ln>
        </p:spPr>
      </p:sp>
      <p:sp>
        <p:nvSpPr>
          <p:cNvPr id="19" name="Text 15"/>
          <p:cNvSpPr txBox="1"/>
          <p:nvPr/>
        </p:nvSpPr>
        <p:spPr>
          <a:xfrm>
            <a:off x="8549640" y="2715768"/>
            <a:ext cx="2697480" cy="292608"/>
          </a:xfrm>
          <a:prstGeom prst="rect">
            <a:avLst/>
          </a:prstGeom>
          <a:noFill/>
          <a:ln/>
        </p:spPr>
        <p:txBody>
          <a:bodyPr wrap="square" lIns="0" tIns="0" rIns="0" bIns="0" rtlCol="0" anchor="t"/>
          <a:lstStyle/>
          <a:p>
            <a:pPr indent="0" marL="0">
              <a:buNone/>
            </a:pPr>
            <a:r>
              <a:rPr lang="en-US" sz="1200" b="1" dirty="0">
                <a:solidFill>
                  <a:srgbClr val="A9C7A9"/>
                </a:solidFill>
                <a:latin typeface="Arial" pitchFamily="34" charset="0"/>
                <a:ea typeface="Arial" pitchFamily="34" charset="-122"/>
                <a:cs typeface="Arial" pitchFamily="34" charset="-120"/>
              </a:rPr>
              <a:t>Stage 1 · feature extraction</a:t>
            </a:r>
            <a:endParaRPr lang="en-US" sz="1200" dirty="0"/>
          </a:p>
        </p:txBody>
      </p:sp>
      <p:sp>
        <p:nvSpPr>
          <p:cNvPr id="20" name="Text 16"/>
          <p:cNvSpPr txBox="1"/>
          <p:nvPr/>
        </p:nvSpPr>
        <p:spPr>
          <a:xfrm>
            <a:off x="8549640" y="3081528"/>
            <a:ext cx="137160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Accuracy</a:t>
            </a:r>
            <a:endParaRPr lang="en-US" sz="1150" dirty="0"/>
          </a:p>
        </p:txBody>
      </p:sp>
      <p:sp>
        <p:nvSpPr>
          <p:cNvPr id="21" name="Text 17"/>
          <p:cNvSpPr txBox="1"/>
          <p:nvPr/>
        </p:nvSpPr>
        <p:spPr>
          <a:xfrm>
            <a:off x="9921240" y="3081528"/>
            <a:ext cx="1325880" cy="274320"/>
          </a:xfrm>
          <a:prstGeom prst="rect">
            <a:avLst/>
          </a:prstGeom>
          <a:noFill/>
          <a:ln/>
        </p:spPr>
        <p:txBody>
          <a:bodyPr wrap="square" lIns="0" tIns="0" rIns="0" bIns="0" rtlCol="0" anchor="t"/>
          <a:lstStyle/>
          <a:p>
            <a:pPr algn="r" indent="0" marL="0">
              <a:buNone/>
            </a:pPr>
            <a:r>
              <a:rPr lang="en-US" sz="1150" b="1" dirty="0">
                <a:solidFill>
                  <a:srgbClr val="ECEFF3"/>
                </a:solidFill>
                <a:latin typeface="Calibri" pitchFamily="34" charset="0"/>
                <a:ea typeface="Calibri" pitchFamily="34" charset="-122"/>
                <a:cs typeface="Calibri" pitchFamily="34" charset="-120"/>
              </a:rPr>
              <a:t>98.61%</a:t>
            </a:r>
            <a:endParaRPr lang="en-US" sz="1150" dirty="0"/>
          </a:p>
        </p:txBody>
      </p:sp>
      <p:sp>
        <p:nvSpPr>
          <p:cNvPr id="22" name="Text 18"/>
          <p:cNvSpPr txBox="1"/>
          <p:nvPr/>
        </p:nvSpPr>
        <p:spPr>
          <a:xfrm>
            <a:off x="8549640" y="3383280"/>
            <a:ext cx="137160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Loss</a:t>
            </a:r>
            <a:endParaRPr lang="en-US" sz="1150" dirty="0"/>
          </a:p>
        </p:txBody>
      </p:sp>
      <p:sp>
        <p:nvSpPr>
          <p:cNvPr id="23" name="Text 19"/>
          <p:cNvSpPr txBox="1"/>
          <p:nvPr/>
        </p:nvSpPr>
        <p:spPr>
          <a:xfrm>
            <a:off x="9921240" y="3383280"/>
            <a:ext cx="1325880" cy="274320"/>
          </a:xfrm>
          <a:prstGeom prst="rect">
            <a:avLst/>
          </a:prstGeom>
          <a:noFill/>
          <a:ln/>
        </p:spPr>
        <p:txBody>
          <a:bodyPr wrap="square" lIns="0" tIns="0" rIns="0" bIns="0" rtlCol="0" anchor="t"/>
          <a:lstStyle/>
          <a:p>
            <a:pPr algn="r" indent="0" marL="0">
              <a:buNone/>
            </a:pPr>
            <a:r>
              <a:rPr lang="en-US" sz="1150" b="1" dirty="0">
                <a:solidFill>
                  <a:srgbClr val="ECEFF3"/>
                </a:solidFill>
                <a:latin typeface="Calibri" pitchFamily="34" charset="0"/>
                <a:ea typeface="Calibri" pitchFamily="34" charset="-122"/>
                <a:cs typeface="Calibri" pitchFamily="34" charset="-120"/>
              </a:rPr>
              <a:t>0.1059</a:t>
            </a:r>
            <a:endParaRPr lang="en-US" sz="1150" dirty="0"/>
          </a:p>
        </p:txBody>
      </p:sp>
      <p:sp>
        <p:nvSpPr>
          <p:cNvPr id="24" name="Text 20"/>
          <p:cNvSpPr txBox="1"/>
          <p:nvPr/>
        </p:nvSpPr>
        <p:spPr>
          <a:xfrm>
            <a:off x="8549640" y="3685032"/>
            <a:ext cx="137160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Macro F1</a:t>
            </a:r>
            <a:endParaRPr lang="en-US" sz="1150" dirty="0"/>
          </a:p>
        </p:txBody>
      </p:sp>
      <p:sp>
        <p:nvSpPr>
          <p:cNvPr id="25" name="Text 21"/>
          <p:cNvSpPr txBox="1"/>
          <p:nvPr/>
        </p:nvSpPr>
        <p:spPr>
          <a:xfrm>
            <a:off x="9921240" y="3685032"/>
            <a:ext cx="1325880" cy="274320"/>
          </a:xfrm>
          <a:prstGeom prst="rect">
            <a:avLst/>
          </a:prstGeom>
          <a:noFill/>
          <a:ln/>
        </p:spPr>
        <p:txBody>
          <a:bodyPr wrap="square" lIns="0" tIns="0" rIns="0" bIns="0" rtlCol="0" anchor="t"/>
          <a:lstStyle/>
          <a:p>
            <a:pPr algn="r" indent="0" marL="0">
              <a:buNone/>
            </a:pPr>
            <a:r>
              <a:rPr lang="en-US" sz="1150" b="1" dirty="0">
                <a:solidFill>
                  <a:srgbClr val="ECEFF3"/>
                </a:solidFill>
                <a:latin typeface="Calibri" pitchFamily="34" charset="0"/>
                <a:ea typeface="Calibri" pitchFamily="34" charset="-122"/>
                <a:cs typeface="Calibri" pitchFamily="34" charset="-120"/>
              </a:rPr>
              <a:t>0.9861</a:t>
            </a:r>
            <a:endParaRPr lang="en-US" sz="1150" dirty="0"/>
          </a:p>
        </p:txBody>
      </p:sp>
      <p:sp>
        <p:nvSpPr>
          <p:cNvPr id="26" name="Shape 22"/>
          <p:cNvSpPr/>
          <p:nvPr/>
        </p:nvSpPr>
        <p:spPr>
          <a:xfrm>
            <a:off x="8366760" y="4178808"/>
            <a:ext cx="3044952" cy="1417320"/>
          </a:xfrm>
          <a:prstGeom prst="roundRect">
            <a:avLst>
              <a:gd name="adj" fmla="val 3871"/>
            </a:avLst>
          </a:prstGeom>
          <a:solidFill>
            <a:srgbClr val="232A33"/>
          </a:solidFill>
          <a:ln w="19050">
            <a:solidFill>
              <a:srgbClr val="E3C79A"/>
            </a:solidFill>
            <a:prstDash val="solid"/>
          </a:ln>
        </p:spPr>
      </p:sp>
      <p:sp>
        <p:nvSpPr>
          <p:cNvPr id="27" name="Text 23"/>
          <p:cNvSpPr txBox="1"/>
          <p:nvPr/>
        </p:nvSpPr>
        <p:spPr>
          <a:xfrm>
            <a:off x="8549640" y="4288536"/>
            <a:ext cx="2697480" cy="292608"/>
          </a:xfrm>
          <a:prstGeom prst="rect">
            <a:avLst/>
          </a:prstGeom>
          <a:noFill/>
          <a:ln/>
        </p:spPr>
        <p:txBody>
          <a:bodyPr wrap="square" lIns="0" tIns="0" rIns="0" bIns="0" rtlCol="0" anchor="t"/>
          <a:lstStyle/>
          <a:p>
            <a:pPr indent="0" marL="0">
              <a:buNone/>
            </a:pPr>
            <a:r>
              <a:rPr lang="en-US" sz="1200" b="1" dirty="0">
                <a:solidFill>
                  <a:srgbClr val="E3C79A"/>
                </a:solidFill>
                <a:latin typeface="Arial" pitchFamily="34" charset="0"/>
                <a:ea typeface="Arial" pitchFamily="34" charset="-122"/>
                <a:cs typeface="Arial" pitchFamily="34" charset="-120"/>
              </a:rPr>
              <a:t>Stage 2 · fine-tuned</a:t>
            </a:r>
            <a:endParaRPr lang="en-US" sz="1200" dirty="0"/>
          </a:p>
        </p:txBody>
      </p:sp>
      <p:sp>
        <p:nvSpPr>
          <p:cNvPr id="28" name="Text 24"/>
          <p:cNvSpPr txBox="1"/>
          <p:nvPr/>
        </p:nvSpPr>
        <p:spPr>
          <a:xfrm>
            <a:off x="8549640" y="4654296"/>
            <a:ext cx="137160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Accuracy</a:t>
            </a:r>
            <a:endParaRPr lang="en-US" sz="1150" dirty="0"/>
          </a:p>
        </p:txBody>
      </p:sp>
      <p:sp>
        <p:nvSpPr>
          <p:cNvPr id="29" name="Text 25"/>
          <p:cNvSpPr txBox="1"/>
          <p:nvPr/>
        </p:nvSpPr>
        <p:spPr>
          <a:xfrm>
            <a:off x="9921240" y="4654296"/>
            <a:ext cx="1325880" cy="274320"/>
          </a:xfrm>
          <a:prstGeom prst="rect">
            <a:avLst/>
          </a:prstGeom>
          <a:noFill/>
          <a:ln/>
        </p:spPr>
        <p:txBody>
          <a:bodyPr wrap="square" lIns="0" tIns="0" rIns="0" bIns="0" rtlCol="0" anchor="t"/>
          <a:lstStyle/>
          <a:p>
            <a:pPr algn="r" indent="0" marL="0">
              <a:buNone/>
            </a:pPr>
            <a:r>
              <a:rPr lang="en-US" sz="1150" b="1" dirty="0">
                <a:solidFill>
                  <a:srgbClr val="ECEFF3"/>
                </a:solidFill>
                <a:latin typeface="Calibri" pitchFamily="34" charset="0"/>
                <a:ea typeface="Calibri" pitchFamily="34" charset="-122"/>
                <a:cs typeface="Calibri" pitchFamily="34" charset="-120"/>
              </a:rPr>
              <a:t>98.96%</a:t>
            </a:r>
            <a:endParaRPr lang="en-US" sz="1150" dirty="0"/>
          </a:p>
        </p:txBody>
      </p:sp>
      <p:sp>
        <p:nvSpPr>
          <p:cNvPr id="30" name="Text 26"/>
          <p:cNvSpPr txBox="1"/>
          <p:nvPr/>
        </p:nvSpPr>
        <p:spPr>
          <a:xfrm>
            <a:off x="8549640" y="4956048"/>
            <a:ext cx="137160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Loss</a:t>
            </a:r>
            <a:endParaRPr lang="en-US" sz="1150" dirty="0"/>
          </a:p>
        </p:txBody>
      </p:sp>
      <p:sp>
        <p:nvSpPr>
          <p:cNvPr id="31" name="Text 27"/>
          <p:cNvSpPr txBox="1"/>
          <p:nvPr/>
        </p:nvSpPr>
        <p:spPr>
          <a:xfrm>
            <a:off x="9921240" y="4956048"/>
            <a:ext cx="1325880" cy="274320"/>
          </a:xfrm>
          <a:prstGeom prst="rect">
            <a:avLst/>
          </a:prstGeom>
          <a:noFill/>
          <a:ln/>
        </p:spPr>
        <p:txBody>
          <a:bodyPr wrap="square" lIns="0" tIns="0" rIns="0" bIns="0" rtlCol="0" anchor="t"/>
          <a:lstStyle/>
          <a:p>
            <a:pPr algn="r" indent="0" marL="0">
              <a:buNone/>
            </a:pPr>
            <a:r>
              <a:rPr lang="en-US" sz="1150" b="1" dirty="0">
                <a:solidFill>
                  <a:srgbClr val="ECEFF3"/>
                </a:solidFill>
                <a:latin typeface="Calibri" pitchFamily="34" charset="0"/>
                <a:ea typeface="Calibri" pitchFamily="34" charset="-122"/>
                <a:cs typeface="Calibri" pitchFamily="34" charset="-120"/>
              </a:rPr>
              <a:t>0.0549</a:t>
            </a:r>
            <a:endParaRPr lang="en-US" sz="1150" dirty="0"/>
          </a:p>
        </p:txBody>
      </p:sp>
      <p:sp>
        <p:nvSpPr>
          <p:cNvPr id="32" name="Text 28"/>
          <p:cNvSpPr txBox="1"/>
          <p:nvPr/>
        </p:nvSpPr>
        <p:spPr>
          <a:xfrm>
            <a:off x="8549640" y="5257800"/>
            <a:ext cx="1371600" cy="274320"/>
          </a:xfrm>
          <a:prstGeom prst="rect">
            <a:avLst/>
          </a:prstGeom>
          <a:noFill/>
          <a:ln/>
        </p:spPr>
        <p:txBody>
          <a:bodyPr wrap="square" lIns="0" tIns="0" rIns="0" bIns="0" rtlCol="0" anchor="t"/>
          <a:lstStyle/>
          <a:p>
            <a:pPr indent="0" marL="0">
              <a:buNone/>
            </a:pPr>
            <a:r>
              <a:rPr lang="en-US" sz="1150" dirty="0">
                <a:solidFill>
                  <a:srgbClr val="98A2B0"/>
                </a:solidFill>
                <a:latin typeface="Calibri" pitchFamily="34" charset="0"/>
                <a:ea typeface="Calibri" pitchFamily="34" charset="-122"/>
                <a:cs typeface="Calibri" pitchFamily="34" charset="-120"/>
              </a:rPr>
              <a:t>Macro F1</a:t>
            </a:r>
            <a:endParaRPr lang="en-US" sz="1150" dirty="0"/>
          </a:p>
        </p:txBody>
      </p:sp>
      <p:sp>
        <p:nvSpPr>
          <p:cNvPr id="33" name="Text 29"/>
          <p:cNvSpPr txBox="1"/>
          <p:nvPr/>
        </p:nvSpPr>
        <p:spPr>
          <a:xfrm>
            <a:off x="9921240" y="5257800"/>
            <a:ext cx="1325880" cy="274320"/>
          </a:xfrm>
          <a:prstGeom prst="rect">
            <a:avLst/>
          </a:prstGeom>
          <a:noFill/>
          <a:ln/>
        </p:spPr>
        <p:txBody>
          <a:bodyPr wrap="square" lIns="0" tIns="0" rIns="0" bIns="0" rtlCol="0" anchor="t"/>
          <a:lstStyle/>
          <a:p>
            <a:pPr algn="r" indent="0" marL="0">
              <a:buNone/>
            </a:pPr>
            <a:r>
              <a:rPr lang="en-US" sz="1150" b="1" dirty="0">
                <a:solidFill>
                  <a:srgbClr val="ECEFF3"/>
                </a:solidFill>
                <a:latin typeface="Calibri" pitchFamily="34" charset="0"/>
                <a:ea typeface="Calibri" pitchFamily="34" charset="-122"/>
                <a:cs typeface="Calibri" pitchFamily="34" charset="-120"/>
              </a:rPr>
              <a:t>0.9896</a:t>
            </a:r>
            <a:endParaRPr lang="en-US" sz="1150" dirty="0"/>
          </a:p>
        </p:txBody>
      </p:sp>
      <p:sp>
        <p:nvSpPr>
          <p:cNvPr id="34" name="Text 30"/>
          <p:cNvSpPr txBox="1"/>
          <p:nvPr/>
        </p:nvSpPr>
        <p:spPr>
          <a:xfrm>
            <a:off x="8366760" y="5806440"/>
            <a:ext cx="3044952" cy="320040"/>
          </a:xfrm>
          <a:prstGeom prst="roundRect">
            <a:avLst>
              <a:gd name="adj" fmla="val 142857"/>
            </a:avLst>
          </a:prstGeom>
          <a:solidFill>
            <a:srgbClr val="232A33"/>
          </a:solidFill>
          <a:ln w="12700">
            <a:solidFill>
              <a:srgbClr val="E3C79A"/>
            </a:solidFill>
          </a:ln>
        </p:spPr>
        <p:txBody>
          <a:bodyPr wrap="square" lIns="0" tIns="0" rIns="0" bIns="0" rtlCol="0" anchor="ctr"/>
          <a:lstStyle/>
          <a:p>
            <a:pPr algn="ctr" indent="0" marL="0">
              <a:buNone/>
            </a:pPr>
            <a:r>
              <a:rPr lang="en-US" sz="1050" b="1" dirty="0">
                <a:solidFill>
                  <a:srgbClr val="E3C79A"/>
                </a:solidFill>
                <a:latin typeface="Arial" pitchFamily="34" charset="0"/>
                <a:ea typeface="Arial" pitchFamily="34" charset="-122"/>
                <a:cs typeface="Arial" pitchFamily="34" charset="-120"/>
              </a:rPr>
              <a:t>SELECTED  ·  fine-tuned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07  ·  FINAL TEST RESULTS</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93.06% on 360 images the model had never seen</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08</a:t>
            </a:r>
            <a:endParaRPr lang="en-US" sz="950" dirty="0"/>
          </a:p>
        </p:txBody>
      </p:sp>
      <p:sp>
        <p:nvSpPr>
          <p:cNvPr id="7" name="Shape 5"/>
          <p:cNvSpPr/>
          <p:nvPr/>
        </p:nvSpPr>
        <p:spPr>
          <a:xfrm>
            <a:off x="548640" y="1645920"/>
            <a:ext cx="2651760" cy="1143000"/>
          </a:xfrm>
          <a:prstGeom prst="roundRect">
            <a:avLst>
              <a:gd name="adj" fmla="val 6400"/>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8" name="Shape 6"/>
          <p:cNvSpPr/>
          <p:nvPr/>
        </p:nvSpPr>
        <p:spPr>
          <a:xfrm>
            <a:off x="548640" y="1755648"/>
            <a:ext cx="41148" cy="923544"/>
          </a:xfrm>
          <a:prstGeom prst="rect">
            <a:avLst/>
          </a:prstGeom>
          <a:solidFill>
            <a:srgbClr val="A9C7A9"/>
          </a:solidFill>
          <a:ln w="12700">
            <a:solidFill>
              <a:srgbClr val="333333"/>
            </a:solidFill>
            <a:prstDash val="solid"/>
          </a:ln>
        </p:spPr>
      </p:sp>
      <p:sp>
        <p:nvSpPr>
          <p:cNvPr id="9" name="Text 7"/>
          <p:cNvSpPr txBox="1"/>
          <p:nvPr/>
        </p:nvSpPr>
        <p:spPr>
          <a:xfrm>
            <a:off x="804672" y="1737360"/>
            <a:ext cx="2194560" cy="594360"/>
          </a:xfrm>
          <a:prstGeom prst="rect">
            <a:avLst/>
          </a:prstGeom>
          <a:noFill/>
          <a:ln/>
        </p:spPr>
        <p:txBody>
          <a:bodyPr wrap="square" lIns="0" tIns="0" rIns="0" bIns="0" rtlCol="0" anchor="ctr"/>
          <a:lstStyle/>
          <a:p>
            <a:pPr indent="0" marL="0">
              <a:buNone/>
            </a:pPr>
            <a:r>
              <a:rPr lang="en-US" sz="2500" b="1" dirty="0">
                <a:solidFill>
                  <a:srgbClr val="A9C7A9"/>
                </a:solidFill>
                <a:latin typeface="Arial" pitchFamily="34" charset="0"/>
                <a:ea typeface="Arial" pitchFamily="34" charset="-122"/>
                <a:cs typeface="Arial" pitchFamily="34" charset="-120"/>
              </a:rPr>
              <a:t>93.06%</a:t>
            </a:r>
            <a:endParaRPr lang="en-US" sz="2500" dirty="0"/>
          </a:p>
        </p:txBody>
      </p:sp>
      <p:sp>
        <p:nvSpPr>
          <p:cNvPr id="10" name="Text 8"/>
          <p:cNvSpPr txBox="1"/>
          <p:nvPr/>
        </p:nvSpPr>
        <p:spPr>
          <a:xfrm>
            <a:off x="804672" y="2331720"/>
            <a:ext cx="2194560" cy="292608"/>
          </a:xfrm>
          <a:prstGeom prst="rect">
            <a:avLst/>
          </a:prstGeom>
          <a:noFill/>
          <a:ln/>
        </p:spPr>
        <p:txBody>
          <a:bodyPr wrap="square" lIns="0" tIns="0" rIns="0" bIns="0" rtlCol="0" anchor="t"/>
          <a:lstStyle/>
          <a:p>
            <a:pPr indent="0" marL="0">
              <a:buNone/>
            </a:pPr>
            <a:r>
              <a:rPr lang="en-US" sz="1200" dirty="0">
                <a:solidFill>
                  <a:srgbClr val="98A2B0"/>
                </a:solidFill>
                <a:latin typeface="Calibri" pitchFamily="34" charset="0"/>
                <a:ea typeface="Calibri" pitchFamily="34" charset="-122"/>
                <a:cs typeface="Calibri" pitchFamily="34" charset="-120"/>
              </a:rPr>
              <a:t>Accuracy</a:t>
            </a:r>
            <a:endParaRPr lang="en-US" sz="1200" dirty="0"/>
          </a:p>
        </p:txBody>
      </p:sp>
      <p:sp>
        <p:nvSpPr>
          <p:cNvPr id="11" name="Shape 9"/>
          <p:cNvSpPr/>
          <p:nvPr/>
        </p:nvSpPr>
        <p:spPr>
          <a:xfrm>
            <a:off x="3364992" y="1645920"/>
            <a:ext cx="2651760" cy="1143000"/>
          </a:xfrm>
          <a:prstGeom prst="roundRect">
            <a:avLst>
              <a:gd name="adj" fmla="val 6400"/>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2" name="Shape 10"/>
          <p:cNvSpPr/>
          <p:nvPr/>
        </p:nvSpPr>
        <p:spPr>
          <a:xfrm>
            <a:off x="3364992" y="1755648"/>
            <a:ext cx="41148" cy="923544"/>
          </a:xfrm>
          <a:prstGeom prst="rect">
            <a:avLst/>
          </a:prstGeom>
          <a:solidFill>
            <a:srgbClr val="9DB8D9"/>
          </a:solidFill>
          <a:ln w="12700">
            <a:solidFill>
              <a:srgbClr val="333333"/>
            </a:solidFill>
            <a:prstDash val="solid"/>
          </a:ln>
        </p:spPr>
      </p:sp>
      <p:sp>
        <p:nvSpPr>
          <p:cNvPr id="13" name="Text 11"/>
          <p:cNvSpPr txBox="1"/>
          <p:nvPr/>
        </p:nvSpPr>
        <p:spPr>
          <a:xfrm>
            <a:off x="3621024" y="1737360"/>
            <a:ext cx="2194560" cy="594360"/>
          </a:xfrm>
          <a:prstGeom prst="rect">
            <a:avLst/>
          </a:prstGeom>
          <a:noFill/>
          <a:ln/>
        </p:spPr>
        <p:txBody>
          <a:bodyPr wrap="square" lIns="0" tIns="0" rIns="0" bIns="0" rtlCol="0" anchor="ctr"/>
          <a:lstStyle/>
          <a:p>
            <a:pPr indent="0" marL="0">
              <a:buNone/>
            </a:pPr>
            <a:r>
              <a:rPr lang="en-US" sz="2500" b="1" dirty="0">
                <a:solidFill>
                  <a:srgbClr val="9DB8D9"/>
                </a:solidFill>
                <a:latin typeface="Arial" pitchFamily="34" charset="0"/>
                <a:ea typeface="Arial" pitchFamily="34" charset="-122"/>
                <a:cs typeface="Arial" pitchFamily="34" charset="-120"/>
              </a:rPr>
              <a:t>335 / 360</a:t>
            </a:r>
            <a:endParaRPr lang="en-US" sz="2500" dirty="0"/>
          </a:p>
        </p:txBody>
      </p:sp>
      <p:sp>
        <p:nvSpPr>
          <p:cNvPr id="14" name="Text 12"/>
          <p:cNvSpPr txBox="1"/>
          <p:nvPr/>
        </p:nvSpPr>
        <p:spPr>
          <a:xfrm>
            <a:off x="3621024" y="2331720"/>
            <a:ext cx="2194560" cy="292608"/>
          </a:xfrm>
          <a:prstGeom prst="rect">
            <a:avLst/>
          </a:prstGeom>
          <a:noFill/>
          <a:ln/>
        </p:spPr>
        <p:txBody>
          <a:bodyPr wrap="square" lIns="0" tIns="0" rIns="0" bIns="0" rtlCol="0" anchor="t"/>
          <a:lstStyle/>
          <a:p>
            <a:pPr indent="0" marL="0">
              <a:buNone/>
            </a:pPr>
            <a:r>
              <a:rPr lang="en-US" sz="1200" dirty="0">
                <a:solidFill>
                  <a:srgbClr val="98A2B0"/>
                </a:solidFill>
                <a:latin typeface="Calibri" pitchFamily="34" charset="0"/>
                <a:ea typeface="Calibri" pitchFamily="34" charset="-122"/>
                <a:cs typeface="Calibri" pitchFamily="34" charset="-120"/>
              </a:rPr>
              <a:t>Correct</a:t>
            </a:r>
            <a:endParaRPr lang="en-US" sz="1200" dirty="0"/>
          </a:p>
        </p:txBody>
      </p:sp>
      <p:sp>
        <p:nvSpPr>
          <p:cNvPr id="15" name="Shape 13"/>
          <p:cNvSpPr/>
          <p:nvPr/>
        </p:nvSpPr>
        <p:spPr>
          <a:xfrm>
            <a:off x="6181344" y="1645920"/>
            <a:ext cx="2651760" cy="1143000"/>
          </a:xfrm>
          <a:prstGeom prst="roundRect">
            <a:avLst>
              <a:gd name="adj" fmla="val 6400"/>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6" name="Shape 14"/>
          <p:cNvSpPr/>
          <p:nvPr/>
        </p:nvSpPr>
        <p:spPr>
          <a:xfrm>
            <a:off x="6181344" y="1755648"/>
            <a:ext cx="41148" cy="923544"/>
          </a:xfrm>
          <a:prstGeom prst="rect">
            <a:avLst/>
          </a:prstGeom>
          <a:solidFill>
            <a:srgbClr val="B9AFD4"/>
          </a:solidFill>
          <a:ln w="12700">
            <a:solidFill>
              <a:srgbClr val="333333"/>
            </a:solidFill>
            <a:prstDash val="solid"/>
          </a:ln>
        </p:spPr>
      </p:sp>
      <p:sp>
        <p:nvSpPr>
          <p:cNvPr id="17" name="Text 15"/>
          <p:cNvSpPr txBox="1"/>
          <p:nvPr/>
        </p:nvSpPr>
        <p:spPr>
          <a:xfrm>
            <a:off x="6437376" y="1737360"/>
            <a:ext cx="2194560" cy="594360"/>
          </a:xfrm>
          <a:prstGeom prst="rect">
            <a:avLst/>
          </a:prstGeom>
          <a:noFill/>
          <a:ln/>
        </p:spPr>
        <p:txBody>
          <a:bodyPr wrap="square" lIns="0" tIns="0" rIns="0" bIns="0" rtlCol="0" anchor="ctr"/>
          <a:lstStyle/>
          <a:p>
            <a:pPr indent="0" marL="0">
              <a:buNone/>
            </a:pPr>
            <a:r>
              <a:rPr lang="en-US" sz="2500" b="1" dirty="0">
                <a:solidFill>
                  <a:srgbClr val="B9AFD4"/>
                </a:solidFill>
                <a:latin typeface="Arial" pitchFamily="34" charset="0"/>
                <a:ea typeface="Arial" pitchFamily="34" charset="-122"/>
                <a:cs typeface="Arial" pitchFamily="34" charset="-120"/>
              </a:rPr>
              <a:t>0.9380</a:t>
            </a:r>
            <a:endParaRPr lang="en-US" sz="2500" dirty="0"/>
          </a:p>
        </p:txBody>
      </p:sp>
      <p:sp>
        <p:nvSpPr>
          <p:cNvPr id="18" name="Text 16"/>
          <p:cNvSpPr txBox="1"/>
          <p:nvPr/>
        </p:nvSpPr>
        <p:spPr>
          <a:xfrm>
            <a:off x="6437376" y="2331720"/>
            <a:ext cx="2194560" cy="292608"/>
          </a:xfrm>
          <a:prstGeom prst="rect">
            <a:avLst/>
          </a:prstGeom>
          <a:noFill/>
          <a:ln/>
        </p:spPr>
        <p:txBody>
          <a:bodyPr wrap="square" lIns="0" tIns="0" rIns="0" bIns="0" rtlCol="0" anchor="t"/>
          <a:lstStyle/>
          <a:p>
            <a:pPr indent="0" marL="0">
              <a:buNone/>
            </a:pPr>
            <a:r>
              <a:rPr lang="en-US" sz="1200" dirty="0">
                <a:solidFill>
                  <a:srgbClr val="98A2B0"/>
                </a:solidFill>
                <a:latin typeface="Calibri" pitchFamily="34" charset="0"/>
                <a:ea typeface="Calibri" pitchFamily="34" charset="-122"/>
                <a:cs typeface="Calibri" pitchFamily="34" charset="-120"/>
              </a:rPr>
              <a:t>Precision (macro)</a:t>
            </a:r>
            <a:endParaRPr lang="en-US" sz="1200" dirty="0"/>
          </a:p>
        </p:txBody>
      </p:sp>
      <p:sp>
        <p:nvSpPr>
          <p:cNvPr id="19" name="Shape 17"/>
          <p:cNvSpPr/>
          <p:nvPr/>
        </p:nvSpPr>
        <p:spPr>
          <a:xfrm>
            <a:off x="8997696" y="1645920"/>
            <a:ext cx="2651760" cy="1143000"/>
          </a:xfrm>
          <a:prstGeom prst="roundRect">
            <a:avLst>
              <a:gd name="adj" fmla="val 6400"/>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0" name="Shape 18"/>
          <p:cNvSpPr/>
          <p:nvPr/>
        </p:nvSpPr>
        <p:spPr>
          <a:xfrm>
            <a:off x="8997696" y="1755648"/>
            <a:ext cx="41148" cy="923544"/>
          </a:xfrm>
          <a:prstGeom prst="rect">
            <a:avLst/>
          </a:prstGeom>
          <a:solidFill>
            <a:srgbClr val="E3C79A"/>
          </a:solidFill>
          <a:ln w="12700">
            <a:solidFill>
              <a:srgbClr val="333333"/>
            </a:solidFill>
            <a:prstDash val="solid"/>
          </a:ln>
        </p:spPr>
      </p:sp>
      <p:sp>
        <p:nvSpPr>
          <p:cNvPr id="21" name="Text 19"/>
          <p:cNvSpPr txBox="1"/>
          <p:nvPr/>
        </p:nvSpPr>
        <p:spPr>
          <a:xfrm>
            <a:off x="9253728" y="1737360"/>
            <a:ext cx="2194560" cy="594360"/>
          </a:xfrm>
          <a:prstGeom prst="rect">
            <a:avLst/>
          </a:prstGeom>
          <a:noFill/>
          <a:ln/>
        </p:spPr>
        <p:txBody>
          <a:bodyPr wrap="square" lIns="0" tIns="0" rIns="0" bIns="0" rtlCol="0" anchor="ctr"/>
          <a:lstStyle/>
          <a:p>
            <a:pPr indent="0" marL="0">
              <a:buNone/>
            </a:pPr>
            <a:r>
              <a:rPr lang="en-US" sz="2500" b="1" dirty="0">
                <a:solidFill>
                  <a:srgbClr val="E3C79A"/>
                </a:solidFill>
                <a:latin typeface="Arial" pitchFamily="34" charset="0"/>
                <a:ea typeface="Arial" pitchFamily="34" charset="-122"/>
                <a:cs typeface="Arial" pitchFamily="34" charset="-120"/>
              </a:rPr>
              <a:t>0.9301</a:t>
            </a:r>
            <a:endParaRPr lang="en-US" sz="2500" dirty="0"/>
          </a:p>
        </p:txBody>
      </p:sp>
      <p:sp>
        <p:nvSpPr>
          <p:cNvPr id="22" name="Text 20"/>
          <p:cNvSpPr txBox="1"/>
          <p:nvPr/>
        </p:nvSpPr>
        <p:spPr>
          <a:xfrm>
            <a:off x="9253728" y="2331720"/>
            <a:ext cx="2194560" cy="292608"/>
          </a:xfrm>
          <a:prstGeom prst="rect">
            <a:avLst/>
          </a:prstGeom>
          <a:noFill/>
          <a:ln/>
        </p:spPr>
        <p:txBody>
          <a:bodyPr wrap="square" lIns="0" tIns="0" rIns="0" bIns="0" rtlCol="0" anchor="t"/>
          <a:lstStyle/>
          <a:p>
            <a:pPr indent="0" marL="0">
              <a:buNone/>
            </a:pPr>
            <a:r>
              <a:rPr lang="en-US" sz="1200" dirty="0">
                <a:solidFill>
                  <a:srgbClr val="98A2B0"/>
                </a:solidFill>
                <a:latin typeface="Calibri" pitchFamily="34" charset="0"/>
                <a:ea typeface="Calibri" pitchFamily="34" charset="-122"/>
                <a:cs typeface="Calibri" pitchFamily="34" charset="-120"/>
              </a:rPr>
              <a:t>F1 (macro)</a:t>
            </a:r>
            <a:endParaRPr lang="en-US" sz="1200" dirty="0"/>
          </a:p>
        </p:txBody>
      </p:sp>
      <p:sp>
        <p:nvSpPr>
          <p:cNvPr id="23" name="Shape 21"/>
          <p:cNvSpPr/>
          <p:nvPr/>
        </p:nvSpPr>
        <p:spPr>
          <a:xfrm>
            <a:off x="548640" y="3017520"/>
            <a:ext cx="7315200" cy="3200400"/>
          </a:xfrm>
          <a:prstGeom prst="roundRect">
            <a:avLst>
              <a:gd name="adj" fmla="val 2286"/>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24" name="Image 0" descr="/home/claude/steel/img/c41_0.png">    </p:cNvPr>
          <p:cNvPicPr>
            <a:picLocks noChangeAspect="1"/>
          </p:cNvPicPr>
          <p:nvPr/>
        </p:nvPicPr>
        <p:blipFill>
          <a:blip r:embed="rId2"/>
          <a:stretch>
            <a:fillRect/>
          </a:stretch>
        </p:blipFill>
        <p:spPr>
          <a:xfrm>
            <a:off x="658368" y="3167407"/>
            <a:ext cx="7095744" cy="2900625"/>
          </a:xfrm>
          <a:prstGeom prst="rect">
            <a:avLst/>
          </a:prstGeom>
        </p:spPr>
      </p:pic>
      <p:sp>
        <p:nvSpPr>
          <p:cNvPr id="25" name="Shape 22"/>
          <p:cNvSpPr/>
          <p:nvPr/>
        </p:nvSpPr>
        <p:spPr>
          <a:xfrm>
            <a:off x="8138160" y="3017520"/>
            <a:ext cx="3502152" cy="3200400"/>
          </a:xfrm>
          <a:prstGeom prst="roundRect">
            <a:avLst>
              <a:gd name="adj" fmla="val 2286"/>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6" name="Shape 23"/>
          <p:cNvSpPr/>
          <p:nvPr/>
        </p:nvSpPr>
        <p:spPr>
          <a:xfrm>
            <a:off x="8138160" y="3127248"/>
            <a:ext cx="41148" cy="2980944"/>
          </a:xfrm>
          <a:prstGeom prst="rect">
            <a:avLst/>
          </a:prstGeom>
          <a:solidFill>
            <a:srgbClr val="E0A9A1"/>
          </a:solidFill>
          <a:ln w="12700">
            <a:solidFill>
              <a:srgbClr val="333333"/>
            </a:solidFill>
            <a:prstDash val="solid"/>
          </a:ln>
        </p:spPr>
      </p:sp>
      <p:sp>
        <p:nvSpPr>
          <p:cNvPr id="27" name="Shape 24"/>
          <p:cNvSpPr/>
          <p:nvPr/>
        </p:nvSpPr>
        <p:spPr>
          <a:xfrm>
            <a:off x="8366760" y="3218688"/>
            <a:ext cx="566928" cy="566928"/>
          </a:xfrm>
          <a:prstGeom prst="roundRect">
            <a:avLst>
              <a:gd name="adj" fmla="val 35484"/>
            </a:avLst>
          </a:prstGeom>
          <a:solidFill>
            <a:srgbClr val="232A33"/>
          </a:solidFill>
          <a:ln w="12700">
            <a:solidFill>
              <a:srgbClr val="2E3640"/>
            </a:solidFill>
            <a:prstDash val="solid"/>
          </a:ln>
        </p:spPr>
      </p:sp>
      <p:pic>
        <p:nvPicPr>
          <p:cNvPr id="28" name="Image 1" descr="preencoded.png">    </p:cNvPr>
          <p:cNvPicPr>
            <a:picLocks noChangeAspect="1"/>
          </p:cNvPicPr>
          <p:nvPr/>
        </p:nvPicPr>
        <p:blipFill>
          <a:blip r:embed="rId3"/>
          <a:stretch>
            <a:fillRect/>
          </a:stretch>
        </p:blipFill>
        <p:spPr>
          <a:xfrm>
            <a:off x="8502823" y="3354751"/>
            <a:ext cx="294803" cy="294803"/>
          </a:xfrm>
          <a:prstGeom prst="rect">
            <a:avLst/>
          </a:prstGeom>
        </p:spPr>
      </p:pic>
      <p:sp>
        <p:nvSpPr>
          <p:cNvPr id="29" name="Text 25"/>
          <p:cNvSpPr txBox="1"/>
          <p:nvPr/>
        </p:nvSpPr>
        <p:spPr>
          <a:xfrm>
            <a:off x="9079992" y="3255264"/>
            <a:ext cx="2377440" cy="320040"/>
          </a:xfrm>
          <a:prstGeom prst="rect">
            <a:avLst/>
          </a:prstGeom>
          <a:noFill/>
          <a:ln/>
        </p:spPr>
        <p:txBody>
          <a:bodyPr wrap="square" lIns="0" tIns="0" rIns="0" bIns="0" rtlCol="0" anchor="t"/>
          <a:lstStyle/>
          <a:p>
            <a:pPr indent="0" marL="0">
              <a:buNone/>
            </a:pPr>
            <a:r>
              <a:rPr lang="en-US" sz="1400" b="1" dirty="0">
                <a:solidFill>
                  <a:srgbClr val="E0A9A1"/>
                </a:solidFill>
                <a:latin typeface="Arial" pitchFamily="34" charset="0"/>
                <a:ea typeface="Arial" pitchFamily="34" charset="-122"/>
                <a:cs typeface="Arial" pitchFamily="34" charset="-120"/>
              </a:rPr>
              <a:t>The honest number</a:t>
            </a:r>
            <a:endParaRPr lang="en-US" sz="1400" dirty="0"/>
          </a:p>
        </p:txBody>
      </p:sp>
      <p:sp>
        <p:nvSpPr>
          <p:cNvPr id="30" name="Text 26"/>
          <p:cNvSpPr txBox="1"/>
          <p:nvPr/>
        </p:nvSpPr>
        <p:spPr>
          <a:xfrm>
            <a:off x="8366760" y="3931920"/>
            <a:ext cx="1463040" cy="457200"/>
          </a:xfrm>
          <a:prstGeom prst="rect">
            <a:avLst/>
          </a:prstGeom>
          <a:noFill/>
          <a:ln/>
        </p:spPr>
        <p:txBody>
          <a:bodyPr wrap="square" lIns="0" tIns="0" rIns="0" bIns="0" rtlCol="0" anchor="ctr"/>
          <a:lstStyle/>
          <a:p>
            <a:pPr indent="0" marL="0">
              <a:buNone/>
            </a:pPr>
            <a:r>
              <a:rPr lang="en-US" sz="2000" b="1" dirty="0">
                <a:solidFill>
                  <a:srgbClr val="98A2B0"/>
                </a:solidFill>
                <a:latin typeface="Arial" pitchFamily="34" charset="0"/>
                <a:ea typeface="Arial" pitchFamily="34" charset="-122"/>
                <a:cs typeface="Arial" pitchFamily="34" charset="-120"/>
              </a:rPr>
              <a:t>98.96%</a:t>
            </a:r>
            <a:endParaRPr lang="en-US" sz="2000" dirty="0"/>
          </a:p>
        </p:txBody>
      </p:sp>
      <p:sp>
        <p:nvSpPr>
          <p:cNvPr id="31" name="Text 27"/>
          <p:cNvSpPr txBox="1"/>
          <p:nvPr/>
        </p:nvSpPr>
        <p:spPr>
          <a:xfrm>
            <a:off x="8366760" y="4370832"/>
            <a:ext cx="1463040" cy="256032"/>
          </a:xfrm>
          <a:prstGeom prst="rect">
            <a:avLst/>
          </a:prstGeom>
          <a:noFill/>
          <a:ln/>
        </p:spPr>
        <p:txBody>
          <a:bodyPr wrap="square" lIns="0" tIns="0" rIns="0" bIns="0" rtlCol="0" anchor="t"/>
          <a:lstStyle/>
          <a:p>
            <a:pPr indent="0" marL="0">
              <a:buNone/>
            </a:pPr>
            <a:r>
              <a:rPr lang="en-US" sz="1100" dirty="0">
                <a:solidFill>
                  <a:srgbClr val="98A2B0"/>
                </a:solidFill>
                <a:latin typeface="Calibri" pitchFamily="34" charset="0"/>
                <a:ea typeface="Calibri" pitchFamily="34" charset="-122"/>
                <a:cs typeface="Calibri" pitchFamily="34" charset="-120"/>
              </a:rPr>
              <a:t>validation</a:t>
            </a:r>
            <a:endParaRPr lang="en-US" sz="1100" dirty="0"/>
          </a:p>
        </p:txBody>
      </p:sp>
      <p:pic>
        <p:nvPicPr>
          <p:cNvPr id="32" name="Image 2" descr="preencoded.png">    </p:cNvPr>
          <p:cNvPicPr>
            <a:picLocks noChangeAspect="1"/>
          </p:cNvPicPr>
          <p:nvPr/>
        </p:nvPicPr>
        <p:blipFill>
          <a:blip r:embed="rId4"/>
          <a:stretch>
            <a:fillRect/>
          </a:stretch>
        </p:blipFill>
        <p:spPr>
          <a:xfrm>
            <a:off x="9921240" y="4023360"/>
            <a:ext cx="274320" cy="274320"/>
          </a:xfrm>
          <a:prstGeom prst="rect">
            <a:avLst/>
          </a:prstGeom>
        </p:spPr>
      </p:pic>
      <p:sp>
        <p:nvSpPr>
          <p:cNvPr id="33" name="Text 28"/>
          <p:cNvSpPr txBox="1"/>
          <p:nvPr/>
        </p:nvSpPr>
        <p:spPr>
          <a:xfrm>
            <a:off x="10287000" y="3931920"/>
            <a:ext cx="1188720" cy="457200"/>
          </a:xfrm>
          <a:prstGeom prst="rect">
            <a:avLst/>
          </a:prstGeom>
          <a:noFill/>
          <a:ln/>
        </p:spPr>
        <p:txBody>
          <a:bodyPr wrap="square" lIns="0" tIns="0" rIns="0" bIns="0" rtlCol="0" anchor="ctr"/>
          <a:lstStyle/>
          <a:p>
            <a:pPr indent="0" marL="0">
              <a:buNone/>
            </a:pPr>
            <a:r>
              <a:rPr lang="en-US" sz="2000" b="1" dirty="0">
                <a:solidFill>
                  <a:srgbClr val="E0A9A1"/>
                </a:solidFill>
                <a:latin typeface="Arial" pitchFamily="34" charset="0"/>
                <a:ea typeface="Arial" pitchFamily="34" charset="-122"/>
                <a:cs typeface="Arial" pitchFamily="34" charset="-120"/>
              </a:rPr>
              <a:t>93.06%</a:t>
            </a:r>
            <a:endParaRPr lang="en-US" sz="2000" dirty="0"/>
          </a:p>
        </p:txBody>
      </p:sp>
      <p:sp>
        <p:nvSpPr>
          <p:cNvPr id="34" name="Text 29"/>
          <p:cNvSpPr txBox="1"/>
          <p:nvPr/>
        </p:nvSpPr>
        <p:spPr>
          <a:xfrm>
            <a:off x="10287000" y="4370832"/>
            <a:ext cx="1188720" cy="256032"/>
          </a:xfrm>
          <a:prstGeom prst="rect">
            <a:avLst/>
          </a:prstGeom>
          <a:noFill/>
          <a:ln/>
        </p:spPr>
        <p:txBody>
          <a:bodyPr wrap="square" lIns="0" tIns="0" rIns="0" bIns="0" rtlCol="0" anchor="t"/>
          <a:lstStyle/>
          <a:p>
            <a:pPr indent="0" marL="0">
              <a:buNone/>
            </a:pPr>
            <a:r>
              <a:rPr lang="en-US" sz="1100" dirty="0">
                <a:solidFill>
                  <a:srgbClr val="98A2B0"/>
                </a:solidFill>
                <a:latin typeface="Calibri" pitchFamily="34" charset="0"/>
                <a:ea typeface="Calibri" pitchFamily="34" charset="-122"/>
                <a:cs typeface="Calibri" pitchFamily="34" charset="-120"/>
              </a:rPr>
              <a:t>test</a:t>
            </a:r>
            <a:endParaRPr lang="en-US" sz="1100" dirty="0"/>
          </a:p>
        </p:txBody>
      </p:sp>
      <p:sp>
        <p:nvSpPr>
          <p:cNvPr id="35" name="Text 30"/>
          <p:cNvSpPr txBox="1"/>
          <p:nvPr/>
        </p:nvSpPr>
        <p:spPr>
          <a:xfrm>
            <a:off x="8366760" y="4846320"/>
            <a:ext cx="3063240" cy="91440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A drop of 5.9 points. Validation guided every decision, so it was always the optimistic number. The test figure is the one to quote.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08  ·  WHERE IT FAILS</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Three classes are perfect; scratches are the weak spot</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09</a:t>
            </a:r>
            <a:endParaRPr lang="en-US" sz="950" dirty="0"/>
          </a:p>
        </p:txBody>
      </p:sp>
      <p:sp>
        <p:nvSpPr>
          <p:cNvPr id="7" name="Shape 5"/>
          <p:cNvSpPr/>
          <p:nvPr/>
        </p:nvSpPr>
        <p:spPr>
          <a:xfrm>
            <a:off x="548640" y="1691640"/>
            <a:ext cx="5120640" cy="4526280"/>
          </a:xfrm>
          <a:prstGeom prst="roundRect">
            <a:avLst>
              <a:gd name="adj" fmla="val 1616"/>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8" name="Image 0" descr="/home/claude/steel/img/cm_counts.png">    </p:cNvPr>
          <p:cNvPicPr>
            <a:picLocks noChangeAspect="1"/>
          </p:cNvPicPr>
          <p:nvPr/>
        </p:nvPicPr>
        <p:blipFill>
          <a:blip r:embed="rId2"/>
          <a:stretch>
            <a:fillRect/>
          </a:stretch>
        </p:blipFill>
        <p:spPr>
          <a:xfrm>
            <a:off x="658368" y="1842633"/>
            <a:ext cx="4901184" cy="4224294"/>
          </a:xfrm>
          <a:prstGeom prst="rect">
            <a:avLst/>
          </a:prstGeom>
        </p:spPr>
      </p:pic>
      <p:sp>
        <p:nvSpPr>
          <p:cNvPr id="9" name="Shape 6"/>
          <p:cNvSpPr/>
          <p:nvPr/>
        </p:nvSpPr>
        <p:spPr>
          <a:xfrm>
            <a:off x="5943600" y="1691640"/>
            <a:ext cx="2743200" cy="4526280"/>
          </a:xfrm>
          <a:prstGeom prst="roundRect">
            <a:avLst>
              <a:gd name="adj" fmla="val 2667"/>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0" name="Text 7"/>
          <p:cNvSpPr txBox="1"/>
          <p:nvPr/>
        </p:nvSpPr>
        <p:spPr>
          <a:xfrm>
            <a:off x="6172200" y="1874520"/>
            <a:ext cx="2286000" cy="292608"/>
          </a:xfrm>
          <a:prstGeom prst="rect">
            <a:avLst/>
          </a:prstGeom>
          <a:noFill/>
          <a:ln/>
        </p:spPr>
        <p:txBody>
          <a:bodyPr wrap="square" lIns="0" tIns="0" rIns="0" bIns="0" rtlCol="0" anchor="t"/>
          <a:lstStyle/>
          <a:p>
            <a:pPr indent="0" marL="0">
              <a:buNone/>
            </a:pPr>
            <a:r>
              <a:rPr lang="en-US" sz="1400" b="1" dirty="0">
                <a:solidFill>
                  <a:srgbClr val="ECEFF3"/>
                </a:solidFill>
                <a:latin typeface="Arial" pitchFamily="34" charset="0"/>
                <a:ea typeface="Arial" pitchFamily="34" charset="-122"/>
                <a:cs typeface="Arial" pitchFamily="34" charset="-120"/>
              </a:rPr>
              <a:t>Recall by class</a:t>
            </a:r>
            <a:endParaRPr lang="en-US" sz="1400" dirty="0"/>
          </a:p>
        </p:txBody>
      </p:sp>
      <p:sp>
        <p:nvSpPr>
          <p:cNvPr id="11" name="Text 8"/>
          <p:cNvSpPr txBox="1"/>
          <p:nvPr/>
        </p:nvSpPr>
        <p:spPr>
          <a:xfrm>
            <a:off x="6172200" y="2377440"/>
            <a:ext cx="1554480" cy="274320"/>
          </a:xfrm>
          <a:prstGeom prst="rect">
            <a:avLst/>
          </a:prstGeom>
          <a:noFill/>
          <a:ln/>
        </p:spPr>
        <p:txBody>
          <a:bodyPr wrap="square" lIns="0" tIns="0" rIns="0" bIns="0" rtlCol="0" anchor="ctr"/>
          <a:lstStyle/>
          <a:p>
            <a:pPr indent="0" marL="0">
              <a:buNone/>
            </a:pPr>
            <a:r>
              <a:rPr lang="en-US" sz="1200" dirty="0">
                <a:solidFill>
                  <a:srgbClr val="ECEFF3"/>
                </a:solidFill>
                <a:latin typeface="Calibri" pitchFamily="34" charset="0"/>
                <a:ea typeface="Calibri" pitchFamily="34" charset="-122"/>
                <a:cs typeface="Calibri" pitchFamily="34" charset="-120"/>
              </a:rPr>
              <a:t>Crazing</a:t>
            </a:r>
            <a:endParaRPr lang="en-US" sz="1200" dirty="0"/>
          </a:p>
        </p:txBody>
      </p:sp>
      <p:sp>
        <p:nvSpPr>
          <p:cNvPr id="12" name="Text 9"/>
          <p:cNvSpPr txBox="1"/>
          <p:nvPr/>
        </p:nvSpPr>
        <p:spPr>
          <a:xfrm>
            <a:off x="7726680" y="2377440"/>
            <a:ext cx="731520" cy="274320"/>
          </a:xfrm>
          <a:prstGeom prst="rect">
            <a:avLst/>
          </a:prstGeom>
          <a:noFill/>
          <a:ln/>
        </p:spPr>
        <p:txBody>
          <a:bodyPr wrap="square" lIns="0" tIns="0" rIns="0" bIns="0" rtlCol="0" anchor="ctr"/>
          <a:lstStyle/>
          <a:p>
            <a:pPr algn="r" indent="0" marL="0">
              <a:buNone/>
            </a:pPr>
            <a:r>
              <a:rPr lang="en-US" sz="1200" b="1" dirty="0">
                <a:solidFill>
                  <a:srgbClr val="E0A9A1"/>
                </a:solidFill>
                <a:latin typeface="Calibri" pitchFamily="34" charset="0"/>
                <a:ea typeface="Calibri" pitchFamily="34" charset="-122"/>
                <a:cs typeface="Calibri" pitchFamily="34" charset="-120"/>
              </a:rPr>
              <a:t>100%</a:t>
            </a:r>
            <a:endParaRPr lang="en-US" sz="1200" dirty="0"/>
          </a:p>
        </p:txBody>
      </p:sp>
      <p:sp>
        <p:nvSpPr>
          <p:cNvPr id="13" name="Shape 10"/>
          <p:cNvSpPr/>
          <p:nvPr/>
        </p:nvSpPr>
        <p:spPr>
          <a:xfrm>
            <a:off x="6172200" y="2679192"/>
            <a:ext cx="2286000" cy="64008"/>
          </a:xfrm>
          <a:prstGeom prst="rect">
            <a:avLst/>
          </a:prstGeom>
          <a:solidFill>
            <a:srgbClr val="232A33"/>
          </a:solidFill>
          <a:ln w="12700">
            <a:solidFill>
              <a:srgbClr val="333333"/>
            </a:solidFill>
            <a:prstDash val="solid"/>
          </a:ln>
        </p:spPr>
      </p:sp>
      <p:sp>
        <p:nvSpPr>
          <p:cNvPr id="14" name="Shape 11"/>
          <p:cNvSpPr/>
          <p:nvPr/>
        </p:nvSpPr>
        <p:spPr>
          <a:xfrm>
            <a:off x="6172200" y="2679192"/>
            <a:ext cx="2286000" cy="64008"/>
          </a:xfrm>
          <a:prstGeom prst="rect">
            <a:avLst/>
          </a:prstGeom>
          <a:solidFill>
            <a:srgbClr val="E0A9A1"/>
          </a:solidFill>
          <a:ln w="12700">
            <a:solidFill>
              <a:srgbClr val="333333"/>
            </a:solidFill>
            <a:prstDash val="solid"/>
          </a:ln>
        </p:spPr>
      </p:sp>
      <p:sp>
        <p:nvSpPr>
          <p:cNvPr id="15" name="Text 12"/>
          <p:cNvSpPr txBox="1"/>
          <p:nvPr/>
        </p:nvSpPr>
        <p:spPr>
          <a:xfrm>
            <a:off x="6172200" y="2999232"/>
            <a:ext cx="1554480" cy="274320"/>
          </a:xfrm>
          <a:prstGeom prst="rect">
            <a:avLst/>
          </a:prstGeom>
          <a:noFill/>
          <a:ln/>
        </p:spPr>
        <p:txBody>
          <a:bodyPr wrap="square" lIns="0" tIns="0" rIns="0" bIns="0" rtlCol="0" anchor="ctr"/>
          <a:lstStyle/>
          <a:p>
            <a:pPr indent="0" marL="0">
              <a:buNone/>
            </a:pPr>
            <a:r>
              <a:rPr lang="en-US" sz="1200" dirty="0">
                <a:solidFill>
                  <a:srgbClr val="ECEFF3"/>
                </a:solidFill>
                <a:latin typeface="Calibri" pitchFamily="34" charset="0"/>
                <a:ea typeface="Calibri" pitchFamily="34" charset="-122"/>
                <a:cs typeface="Calibri" pitchFamily="34" charset="-120"/>
              </a:rPr>
              <a:t>Patches</a:t>
            </a:r>
            <a:endParaRPr lang="en-US" sz="1200" dirty="0"/>
          </a:p>
        </p:txBody>
      </p:sp>
      <p:sp>
        <p:nvSpPr>
          <p:cNvPr id="16" name="Text 13"/>
          <p:cNvSpPr txBox="1"/>
          <p:nvPr/>
        </p:nvSpPr>
        <p:spPr>
          <a:xfrm>
            <a:off x="7726680" y="2999232"/>
            <a:ext cx="731520" cy="274320"/>
          </a:xfrm>
          <a:prstGeom prst="rect">
            <a:avLst/>
          </a:prstGeom>
          <a:noFill/>
          <a:ln/>
        </p:spPr>
        <p:txBody>
          <a:bodyPr wrap="square" lIns="0" tIns="0" rIns="0" bIns="0" rtlCol="0" anchor="ctr"/>
          <a:lstStyle/>
          <a:p>
            <a:pPr algn="r" indent="0" marL="0">
              <a:buNone/>
            </a:pPr>
            <a:r>
              <a:rPr lang="en-US" sz="1200" b="1" dirty="0">
                <a:solidFill>
                  <a:srgbClr val="E3C79A"/>
                </a:solidFill>
                <a:latin typeface="Calibri" pitchFamily="34" charset="0"/>
                <a:ea typeface="Calibri" pitchFamily="34" charset="-122"/>
                <a:cs typeface="Calibri" pitchFamily="34" charset="-120"/>
              </a:rPr>
              <a:t>100%</a:t>
            </a:r>
            <a:endParaRPr lang="en-US" sz="1200" dirty="0"/>
          </a:p>
        </p:txBody>
      </p:sp>
      <p:sp>
        <p:nvSpPr>
          <p:cNvPr id="17" name="Shape 14"/>
          <p:cNvSpPr/>
          <p:nvPr/>
        </p:nvSpPr>
        <p:spPr>
          <a:xfrm>
            <a:off x="6172200" y="3300984"/>
            <a:ext cx="2286000" cy="64008"/>
          </a:xfrm>
          <a:prstGeom prst="rect">
            <a:avLst/>
          </a:prstGeom>
          <a:solidFill>
            <a:srgbClr val="232A33"/>
          </a:solidFill>
          <a:ln w="12700">
            <a:solidFill>
              <a:srgbClr val="333333"/>
            </a:solidFill>
            <a:prstDash val="solid"/>
          </a:ln>
        </p:spPr>
      </p:sp>
      <p:sp>
        <p:nvSpPr>
          <p:cNvPr id="18" name="Shape 15"/>
          <p:cNvSpPr/>
          <p:nvPr/>
        </p:nvSpPr>
        <p:spPr>
          <a:xfrm>
            <a:off x="6172200" y="3300984"/>
            <a:ext cx="2286000" cy="64008"/>
          </a:xfrm>
          <a:prstGeom prst="rect">
            <a:avLst/>
          </a:prstGeom>
          <a:solidFill>
            <a:srgbClr val="E3C79A"/>
          </a:solidFill>
          <a:ln w="12700">
            <a:solidFill>
              <a:srgbClr val="333333"/>
            </a:solidFill>
            <a:prstDash val="solid"/>
          </a:ln>
        </p:spPr>
      </p:sp>
      <p:sp>
        <p:nvSpPr>
          <p:cNvPr id="19" name="Text 16"/>
          <p:cNvSpPr txBox="1"/>
          <p:nvPr/>
        </p:nvSpPr>
        <p:spPr>
          <a:xfrm>
            <a:off x="6172200" y="3621024"/>
            <a:ext cx="1554480" cy="274320"/>
          </a:xfrm>
          <a:prstGeom prst="rect">
            <a:avLst/>
          </a:prstGeom>
          <a:noFill/>
          <a:ln/>
        </p:spPr>
        <p:txBody>
          <a:bodyPr wrap="square" lIns="0" tIns="0" rIns="0" bIns="0" rtlCol="0" anchor="ctr"/>
          <a:lstStyle/>
          <a:p>
            <a:pPr indent="0" marL="0">
              <a:buNone/>
            </a:pPr>
            <a:r>
              <a:rPr lang="en-US" sz="1200" dirty="0">
                <a:solidFill>
                  <a:srgbClr val="ECEFF3"/>
                </a:solidFill>
                <a:latin typeface="Calibri" pitchFamily="34" charset="0"/>
                <a:ea typeface="Calibri" pitchFamily="34" charset="-122"/>
                <a:cs typeface="Calibri" pitchFamily="34" charset="-120"/>
              </a:rPr>
              <a:t>Rolled-In Scale</a:t>
            </a:r>
            <a:endParaRPr lang="en-US" sz="1200" dirty="0"/>
          </a:p>
        </p:txBody>
      </p:sp>
      <p:sp>
        <p:nvSpPr>
          <p:cNvPr id="20" name="Text 17"/>
          <p:cNvSpPr txBox="1"/>
          <p:nvPr/>
        </p:nvSpPr>
        <p:spPr>
          <a:xfrm>
            <a:off x="7726680" y="3621024"/>
            <a:ext cx="731520" cy="274320"/>
          </a:xfrm>
          <a:prstGeom prst="rect">
            <a:avLst/>
          </a:prstGeom>
          <a:noFill/>
          <a:ln/>
        </p:spPr>
        <p:txBody>
          <a:bodyPr wrap="square" lIns="0" tIns="0" rIns="0" bIns="0" rtlCol="0" anchor="ctr"/>
          <a:lstStyle/>
          <a:p>
            <a:pPr algn="r" indent="0" marL="0">
              <a:buNone/>
            </a:pPr>
            <a:r>
              <a:rPr lang="en-US" sz="1200" b="1" dirty="0">
                <a:solidFill>
                  <a:srgbClr val="B9AFD4"/>
                </a:solidFill>
                <a:latin typeface="Calibri" pitchFamily="34" charset="0"/>
                <a:ea typeface="Calibri" pitchFamily="34" charset="-122"/>
                <a:cs typeface="Calibri" pitchFamily="34" charset="-120"/>
              </a:rPr>
              <a:t>100%</a:t>
            </a:r>
            <a:endParaRPr lang="en-US" sz="1200" dirty="0"/>
          </a:p>
        </p:txBody>
      </p:sp>
      <p:sp>
        <p:nvSpPr>
          <p:cNvPr id="21" name="Shape 18"/>
          <p:cNvSpPr/>
          <p:nvPr/>
        </p:nvSpPr>
        <p:spPr>
          <a:xfrm>
            <a:off x="6172200" y="3922776"/>
            <a:ext cx="2286000" cy="64008"/>
          </a:xfrm>
          <a:prstGeom prst="rect">
            <a:avLst/>
          </a:prstGeom>
          <a:solidFill>
            <a:srgbClr val="232A33"/>
          </a:solidFill>
          <a:ln w="12700">
            <a:solidFill>
              <a:srgbClr val="333333"/>
            </a:solidFill>
            <a:prstDash val="solid"/>
          </a:ln>
        </p:spPr>
      </p:sp>
      <p:sp>
        <p:nvSpPr>
          <p:cNvPr id="22" name="Shape 19"/>
          <p:cNvSpPr/>
          <p:nvPr/>
        </p:nvSpPr>
        <p:spPr>
          <a:xfrm>
            <a:off x="6172200" y="3922776"/>
            <a:ext cx="2286000" cy="64008"/>
          </a:xfrm>
          <a:prstGeom prst="rect">
            <a:avLst/>
          </a:prstGeom>
          <a:solidFill>
            <a:srgbClr val="B9AFD4"/>
          </a:solidFill>
          <a:ln w="12700">
            <a:solidFill>
              <a:srgbClr val="333333"/>
            </a:solidFill>
            <a:prstDash val="solid"/>
          </a:ln>
        </p:spPr>
      </p:sp>
      <p:sp>
        <p:nvSpPr>
          <p:cNvPr id="23" name="Text 20"/>
          <p:cNvSpPr txBox="1"/>
          <p:nvPr/>
        </p:nvSpPr>
        <p:spPr>
          <a:xfrm>
            <a:off x="6172200" y="4242816"/>
            <a:ext cx="1554480" cy="274320"/>
          </a:xfrm>
          <a:prstGeom prst="rect">
            <a:avLst/>
          </a:prstGeom>
          <a:noFill/>
          <a:ln/>
        </p:spPr>
        <p:txBody>
          <a:bodyPr wrap="square" lIns="0" tIns="0" rIns="0" bIns="0" rtlCol="0" anchor="ctr"/>
          <a:lstStyle/>
          <a:p>
            <a:pPr indent="0" marL="0">
              <a:buNone/>
            </a:pPr>
            <a:r>
              <a:rPr lang="en-US" sz="1200" dirty="0">
                <a:solidFill>
                  <a:srgbClr val="ECEFF3"/>
                </a:solidFill>
                <a:latin typeface="Calibri" pitchFamily="34" charset="0"/>
                <a:ea typeface="Calibri" pitchFamily="34" charset="-122"/>
                <a:cs typeface="Calibri" pitchFamily="34" charset="-120"/>
              </a:rPr>
              <a:t>Inclusion</a:t>
            </a:r>
            <a:endParaRPr lang="en-US" sz="1200" dirty="0"/>
          </a:p>
        </p:txBody>
      </p:sp>
      <p:sp>
        <p:nvSpPr>
          <p:cNvPr id="24" name="Text 21"/>
          <p:cNvSpPr txBox="1"/>
          <p:nvPr/>
        </p:nvSpPr>
        <p:spPr>
          <a:xfrm>
            <a:off x="7726680" y="4242816"/>
            <a:ext cx="731520" cy="274320"/>
          </a:xfrm>
          <a:prstGeom prst="rect">
            <a:avLst/>
          </a:prstGeom>
          <a:noFill/>
          <a:ln/>
        </p:spPr>
        <p:txBody>
          <a:bodyPr wrap="square" lIns="0" tIns="0" rIns="0" bIns="0" rtlCol="0" anchor="ctr"/>
          <a:lstStyle/>
          <a:p>
            <a:pPr algn="r" indent="0" marL="0">
              <a:buNone/>
            </a:pPr>
            <a:r>
              <a:rPr lang="en-US" sz="1200" b="1" dirty="0">
                <a:solidFill>
                  <a:srgbClr val="9DB8D9"/>
                </a:solidFill>
                <a:latin typeface="Calibri" pitchFamily="34" charset="0"/>
                <a:ea typeface="Calibri" pitchFamily="34" charset="-122"/>
                <a:cs typeface="Calibri" pitchFamily="34" charset="-120"/>
              </a:rPr>
              <a:t>95%</a:t>
            </a:r>
            <a:endParaRPr lang="en-US" sz="1200" dirty="0"/>
          </a:p>
        </p:txBody>
      </p:sp>
      <p:sp>
        <p:nvSpPr>
          <p:cNvPr id="25" name="Shape 22"/>
          <p:cNvSpPr/>
          <p:nvPr/>
        </p:nvSpPr>
        <p:spPr>
          <a:xfrm>
            <a:off x="6172200" y="4544568"/>
            <a:ext cx="2286000" cy="64008"/>
          </a:xfrm>
          <a:prstGeom prst="rect">
            <a:avLst/>
          </a:prstGeom>
          <a:solidFill>
            <a:srgbClr val="232A33"/>
          </a:solidFill>
          <a:ln w="12700">
            <a:solidFill>
              <a:srgbClr val="333333"/>
            </a:solidFill>
            <a:prstDash val="solid"/>
          </a:ln>
        </p:spPr>
      </p:sp>
      <p:sp>
        <p:nvSpPr>
          <p:cNvPr id="26" name="Shape 23"/>
          <p:cNvSpPr/>
          <p:nvPr/>
        </p:nvSpPr>
        <p:spPr>
          <a:xfrm>
            <a:off x="6172200" y="4544568"/>
            <a:ext cx="2171700" cy="64008"/>
          </a:xfrm>
          <a:prstGeom prst="rect">
            <a:avLst/>
          </a:prstGeom>
          <a:solidFill>
            <a:srgbClr val="9DB8D9"/>
          </a:solidFill>
          <a:ln w="12700">
            <a:solidFill>
              <a:srgbClr val="333333"/>
            </a:solidFill>
            <a:prstDash val="solid"/>
          </a:ln>
        </p:spPr>
      </p:sp>
      <p:sp>
        <p:nvSpPr>
          <p:cNvPr id="27" name="Text 24"/>
          <p:cNvSpPr txBox="1"/>
          <p:nvPr/>
        </p:nvSpPr>
        <p:spPr>
          <a:xfrm>
            <a:off x="6172200" y="4864608"/>
            <a:ext cx="1554480" cy="274320"/>
          </a:xfrm>
          <a:prstGeom prst="rect">
            <a:avLst/>
          </a:prstGeom>
          <a:noFill/>
          <a:ln/>
        </p:spPr>
        <p:txBody>
          <a:bodyPr wrap="square" lIns="0" tIns="0" rIns="0" bIns="0" rtlCol="0" anchor="ctr"/>
          <a:lstStyle/>
          <a:p>
            <a:pPr indent="0" marL="0">
              <a:buNone/>
            </a:pPr>
            <a:r>
              <a:rPr lang="en-US" sz="1200" dirty="0">
                <a:solidFill>
                  <a:srgbClr val="ECEFF3"/>
                </a:solidFill>
                <a:latin typeface="Calibri" pitchFamily="34" charset="0"/>
                <a:ea typeface="Calibri" pitchFamily="34" charset="-122"/>
                <a:cs typeface="Calibri" pitchFamily="34" charset="-120"/>
              </a:rPr>
              <a:t>Pitted Surface</a:t>
            </a:r>
            <a:endParaRPr lang="en-US" sz="1200" dirty="0"/>
          </a:p>
        </p:txBody>
      </p:sp>
      <p:sp>
        <p:nvSpPr>
          <p:cNvPr id="28" name="Text 25"/>
          <p:cNvSpPr txBox="1"/>
          <p:nvPr/>
        </p:nvSpPr>
        <p:spPr>
          <a:xfrm>
            <a:off x="7726680" y="4864608"/>
            <a:ext cx="731520" cy="274320"/>
          </a:xfrm>
          <a:prstGeom prst="rect">
            <a:avLst/>
          </a:prstGeom>
          <a:noFill/>
          <a:ln/>
        </p:spPr>
        <p:txBody>
          <a:bodyPr wrap="square" lIns="0" tIns="0" rIns="0" bIns="0" rtlCol="0" anchor="ctr"/>
          <a:lstStyle/>
          <a:p>
            <a:pPr algn="r" indent="0" marL="0">
              <a:buNone/>
            </a:pPr>
            <a:r>
              <a:rPr lang="en-US" sz="1200" b="1" dirty="0">
                <a:solidFill>
                  <a:srgbClr val="A9C7A9"/>
                </a:solidFill>
                <a:latin typeface="Calibri" pitchFamily="34" charset="0"/>
                <a:ea typeface="Calibri" pitchFamily="34" charset="-122"/>
                <a:cs typeface="Calibri" pitchFamily="34" charset="-120"/>
              </a:rPr>
              <a:t>83%</a:t>
            </a:r>
            <a:endParaRPr lang="en-US" sz="1200" dirty="0"/>
          </a:p>
        </p:txBody>
      </p:sp>
      <p:sp>
        <p:nvSpPr>
          <p:cNvPr id="29" name="Shape 26"/>
          <p:cNvSpPr/>
          <p:nvPr/>
        </p:nvSpPr>
        <p:spPr>
          <a:xfrm>
            <a:off x="6172200" y="5166360"/>
            <a:ext cx="2286000" cy="64008"/>
          </a:xfrm>
          <a:prstGeom prst="rect">
            <a:avLst/>
          </a:prstGeom>
          <a:solidFill>
            <a:srgbClr val="232A33"/>
          </a:solidFill>
          <a:ln w="12700">
            <a:solidFill>
              <a:srgbClr val="333333"/>
            </a:solidFill>
            <a:prstDash val="solid"/>
          </a:ln>
        </p:spPr>
      </p:sp>
      <p:sp>
        <p:nvSpPr>
          <p:cNvPr id="30" name="Shape 27"/>
          <p:cNvSpPr/>
          <p:nvPr/>
        </p:nvSpPr>
        <p:spPr>
          <a:xfrm>
            <a:off x="6172200" y="5166360"/>
            <a:ext cx="1897380" cy="64008"/>
          </a:xfrm>
          <a:prstGeom prst="rect">
            <a:avLst/>
          </a:prstGeom>
          <a:solidFill>
            <a:srgbClr val="A9C7A9"/>
          </a:solidFill>
          <a:ln w="12700">
            <a:solidFill>
              <a:srgbClr val="333333"/>
            </a:solidFill>
            <a:prstDash val="solid"/>
          </a:ln>
        </p:spPr>
      </p:sp>
      <p:sp>
        <p:nvSpPr>
          <p:cNvPr id="31" name="Text 28"/>
          <p:cNvSpPr txBox="1"/>
          <p:nvPr/>
        </p:nvSpPr>
        <p:spPr>
          <a:xfrm>
            <a:off x="6172200" y="5486400"/>
            <a:ext cx="1554480" cy="274320"/>
          </a:xfrm>
          <a:prstGeom prst="rect">
            <a:avLst/>
          </a:prstGeom>
          <a:noFill/>
          <a:ln/>
        </p:spPr>
        <p:txBody>
          <a:bodyPr wrap="square" lIns="0" tIns="0" rIns="0" bIns="0" rtlCol="0" anchor="ctr"/>
          <a:lstStyle/>
          <a:p>
            <a:pPr indent="0" marL="0">
              <a:buNone/>
            </a:pPr>
            <a:r>
              <a:rPr lang="en-US" sz="1200" dirty="0">
                <a:solidFill>
                  <a:srgbClr val="ECEFF3"/>
                </a:solidFill>
                <a:latin typeface="Calibri" pitchFamily="34" charset="0"/>
                <a:ea typeface="Calibri" pitchFamily="34" charset="-122"/>
                <a:cs typeface="Calibri" pitchFamily="34" charset="-120"/>
              </a:rPr>
              <a:t>Scratches</a:t>
            </a:r>
            <a:endParaRPr lang="en-US" sz="1200" dirty="0"/>
          </a:p>
        </p:txBody>
      </p:sp>
      <p:sp>
        <p:nvSpPr>
          <p:cNvPr id="32" name="Text 29"/>
          <p:cNvSpPr txBox="1"/>
          <p:nvPr/>
        </p:nvSpPr>
        <p:spPr>
          <a:xfrm>
            <a:off x="7726680" y="5486400"/>
            <a:ext cx="731520" cy="274320"/>
          </a:xfrm>
          <a:prstGeom prst="rect">
            <a:avLst/>
          </a:prstGeom>
          <a:noFill/>
          <a:ln/>
        </p:spPr>
        <p:txBody>
          <a:bodyPr wrap="square" lIns="0" tIns="0" rIns="0" bIns="0" rtlCol="0" anchor="ctr"/>
          <a:lstStyle/>
          <a:p>
            <a:pPr algn="r" indent="0" marL="0">
              <a:buNone/>
            </a:pPr>
            <a:r>
              <a:rPr lang="en-US" sz="1200" b="1" dirty="0">
                <a:solidFill>
                  <a:srgbClr val="8FC8C0"/>
                </a:solidFill>
                <a:latin typeface="Calibri" pitchFamily="34" charset="0"/>
                <a:ea typeface="Calibri" pitchFamily="34" charset="-122"/>
                <a:cs typeface="Calibri" pitchFamily="34" charset="-120"/>
              </a:rPr>
              <a:t>80%</a:t>
            </a:r>
            <a:endParaRPr lang="en-US" sz="1200" dirty="0"/>
          </a:p>
        </p:txBody>
      </p:sp>
      <p:sp>
        <p:nvSpPr>
          <p:cNvPr id="33" name="Shape 30"/>
          <p:cNvSpPr/>
          <p:nvPr/>
        </p:nvSpPr>
        <p:spPr>
          <a:xfrm>
            <a:off x="6172200" y="5788152"/>
            <a:ext cx="2286000" cy="64008"/>
          </a:xfrm>
          <a:prstGeom prst="rect">
            <a:avLst/>
          </a:prstGeom>
          <a:solidFill>
            <a:srgbClr val="232A33"/>
          </a:solidFill>
          <a:ln w="12700">
            <a:solidFill>
              <a:srgbClr val="333333"/>
            </a:solidFill>
            <a:prstDash val="solid"/>
          </a:ln>
        </p:spPr>
      </p:sp>
      <p:sp>
        <p:nvSpPr>
          <p:cNvPr id="34" name="Shape 31"/>
          <p:cNvSpPr/>
          <p:nvPr/>
        </p:nvSpPr>
        <p:spPr>
          <a:xfrm>
            <a:off x="6172200" y="5788152"/>
            <a:ext cx="1828800" cy="64008"/>
          </a:xfrm>
          <a:prstGeom prst="rect">
            <a:avLst/>
          </a:prstGeom>
          <a:solidFill>
            <a:srgbClr val="8FC8C0"/>
          </a:solidFill>
          <a:ln w="12700">
            <a:solidFill>
              <a:srgbClr val="333333"/>
            </a:solidFill>
            <a:prstDash val="solid"/>
          </a:ln>
        </p:spPr>
      </p:sp>
      <p:sp>
        <p:nvSpPr>
          <p:cNvPr id="35" name="Shape 32"/>
          <p:cNvSpPr/>
          <p:nvPr/>
        </p:nvSpPr>
        <p:spPr>
          <a:xfrm>
            <a:off x="8961120" y="1691640"/>
            <a:ext cx="2679192" cy="2606040"/>
          </a:xfrm>
          <a:prstGeom prst="roundRect">
            <a:avLst>
              <a:gd name="adj" fmla="val 2807"/>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36" name="Shape 33"/>
          <p:cNvSpPr/>
          <p:nvPr/>
        </p:nvSpPr>
        <p:spPr>
          <a:xfrm>
            <a:off x="8961120" y="1801368"/>
            <a:ext cx="41148" cy="2386584"/>
          </a:xfrm>
          <a:prstGeom prst="rect">
            <a:avLst/>
          </a:prstGeom>
          <a:solidFill>
            <a:srgbClr val="E0A9A1"/>
          </a:solidFill>
          <a:ln w="12700">
            <a:solidFill>
              <a:srgbClr val="333333"/>
            </a:solidFill>
            <a:prstDash val="solid"/>
          </a:ln>
        </p:spPr>
      </p:sp>
      <p:sp>
        <p:nvSpPr>
          <p:cNvPr id="37" name="Text 34"/>
          <p:cNvSpPr txBox="1"/>
          <p:nvPr/>
        </p:nvSpPr>
        <p:spPr>
          <a:xfrm>
            <a:off x="9189720" y="1874520"/>
            <a:ext cx="2240280" cy="292608"/>
          </a:xfrm>
          <a:prstGeom prst="rect">
            <a:avLst/>
          </a:prstGeom>
          <a:noFill/>
          <a:ln/>
        </p:spPr>
        <p:txBody>
          <a:bodyPr wrap="square" lIns="0" tIns="0" rIns="0" bIns="0" rtlCol="0" anchor="t"/>
          <a:lstStyle/>
          <a:p>
            <a:pPr indent="0" marL="0">
              <a:buNone/>
            </a:pPr>
            <a:r>
              <a:rPr lang="en-US" sz="1300" b="1" dirty="0">
                <a:solidFill>
                  <a:srgbClr val="E0A9A1"/>
                </a:solidFill>
                <a:latin typeface="Arial" pitchFamily="34" charset="0"/>
                <a:ea typeface="Arial" pitchFamily="34" charset="-122"/>
                <a:cs typeface="Arial" pitchFamily="34" charset="-120"/>
              </a:rPr>
              <a:t>Most common mix-ups</a:t>
            </a:r>
            <a:endParaRPr lang="en-US" sz="1300" dirty="0"/>
          </a:p>
        </p:txBody>
      </p:sp>
      <p:sp>
        <p:nvSpPr>
          <p:cNvPr id="38" name="Text 35"/>
          <p:cNvSpPr txBox="1"/>
          <p:nvPr/>
        </p:nvSpPr>
        <p:spPr>
          <a:xfrm>
            <a:off x="9189720" y="2331720"/>
            <a:ext cx="411480" cy="320040"/>
          </a:xfrm>
          <a:prstGeom prst="rect">
            <a:avLst/>
          </a:prstGeom>
          <a:noFill/>
          <a:ln/>
        </p:spPr>
        <p:txBody>
          <a:bodyPr wrap="square" lIns="0" tIns="0" rIns="0" bIns="0" rtlCol="0" anchor="ctr"/>
          <a:lstStyle/>
          <a:p>
            <a:pPr indent="0" marL="0">
              <a:buNone/>
            </a:pPr>
            <a:r>
              <a:rPr lang="en-US" sz="1150" b="1" dirty="0">
                <a:solidFill>
                  <a:srgbClr val="E0A9A1"/>
                </a:solidFill>
                <a:latin typeface="Calibri" pitchFamily="34" charset="0"/>
                <a:ea typeface="Calibri" pitchFamily="34" charset="-122"/>
                <a:cs typeface="Calibri" pitchFamily="34" charset="-120"/>
              </a:rPr>
              <a:t>9×</a:t>
            </a:r>
            <a:endParaRPr lang="en-US" sz="1150" dirty="0"/>
          </a:p>
        </p:txBody>
      </p:sp>
      <p:sp>
        <p:nvSpPr>
          <p:cNvPr id="39" name="Text 36"/>
          <p:cNvSpPr txBox="1"/>
          <p:nvPr/>
        </p:nvSpPr>
        <p:spPr>
          <a:xfrm>
            <a:off x="9601200" y="2331720"/>
            <a:ext cx="1828800" cy="320040"/>
          </a:xfrm>
          <a:prstGeom prst="rect">
            <a:avLst/>
          </a:prstGeom>
          <a:noFill/>
          <a:ln/>
        </p:spPr>
        <p:txBody>
          <a:bodyPr wrap="square" lIns="0" tIns="0" rIns="0" bIns="0" rtlCol="0" anchor="ctr"/>
          <a:lstStyle/>
          <a:p>
            <a:pPr indent="0" marL="0">
              <a:buNone/>
            </a:pPr>
            <a:r>
              <a:rPr lang="en-US" sz="1100" dirty="0">
                <a:solidFill>
                  <a:srgbClr val="ECEFF3"/>
                </a:solidFill>
                <a:latin typeface="Calibri" pitchFamily="34" charset="0"/>
                <a:ea typeface="Calibri" pitchFamily="34" charset="-122"/>
                <a:cs typeface="Calibri" pitchFamily="34" charset="-120"/>
              </a:rPr>
              <a:t>Scratches → Rolled-In Scale</a:t>
            </a:r>
            <a:endParaRPr lang="en-US" sz="1100" dirty="0"/>
          </a:p>
        </p:txBody>
      </p:sp>
      <p:sp>
        <p:nvSpPr>
          <p:cNvPr id="40" name="Text 37"/>
          <p:cNvSpPr txBox="1"/>
          <p:nvPr/>
        </p:nvSpPr>
        <p:spPr>
          <a:xfrm>
            <a:off x="9189720" y="2715768"/>
            <a:ext cx="411480" cy="320040"/>
          </a:xfrm>
          <a:prstGeom prst="rect">
            <a:avLst/>
          </a:prstGeom>
          <a:noFill/>
          <a:ln/>
        </p:spPr>
        <p:txBody>
          <a:bodyPr wrap="square" lIns="0" tIns="0" rIns="0" bIns="0" rtlCol="0" anchor="ctr"/>
          <a:lstStyle/>
          <a:p>
            <a:pPr indent="0" marL="0">
              <a:buNone/>
            </a:pPr>
            <a:r>
              <a:rPr lang="en-US" sz="1150" b="1" dirty="0">
                <a:solidFill>
                  <a:srgbClr val="E0A9A1"/>
                </a:solidFill>
                <a:latin typeface="Calibri" pitchFamily="34" charset="0"/>
                <a:ea typeface="Calibri" pitchFamily="34" charset="-122"/>
                <a:cs typeface="Calibri" pitchFamily="34" charset="-120"/>
              </a:rPr>
              <a:t>6×</a:t>
            </a:r>
            <a:endParaRPr lang="en-US" sz="1150" dirty="0"/>
          </a:p>
        </p:txBody>
      </p:sp>
      <p:sp>
        <p:nvSpPr>
          <p:cNvPr id="41" name="Text 38"/>
          <p:cNvSpPr txBox="1"/>
          <p:nvPr/>
        </p:nvSpPr>
        <p:spPr>
          <a:xfrm>
            <a:off x="9601200" y="2715768"/>
            <a:ext cx="1828800" cy="320040"/>
          </a:xfrm>
          <a:prstGeom prst="rect">
            <a:avLst/>
          </a:prstGeom>
          <a:noFill/>
          <a:ln/>
        </p:spPr>
        <p:txBody>
          <a:bodyPr wrap="square" lIns="0" tIns="0" rIns="0" bIns="0" rtlCol="0" anchor="ctr"/>
          <a:lstStyle/>
          <a:p>
            <a:pPr indent="0" marL="0">
              <a:buNone/>
            </a:pPr>
            <a:r>
              <a:rPr lang="en-US" sz="1100" dirty="0">
                <a:solidFill>
                  <a:srgbClr val="ECEFF3"/>
                </a:solidFill>
                <a:latin typeface="Calibri" pitchFamily="34" charset="0"/>
                <a:ea typeface="Calibri" pitchFamily="34" charset="-122"/>
                <a:cs typeface="Calibri" pitchFamily="34" charset="-120"/>
              </a:rPr>
              <a:t>Pitted → Rolled-In Scale</a:t>
            </a:r>
            <a:endParaRPr lang="en-US" sz="1100" dirty="0"/>
          </a:p>
        </p:txBody>
      </p:sp>
      <p:sp>
        <p:nvSpPr>
          <p:cNvPr id="42" name="Text 39"/>
          <p:cNvSpPr txBox="1"/>
          <p:nvPr/>
        </p:nvSpPr>
        <p:spPr>
          <a:xfrm>
            <a:off x="9189720" y="3099816"/>
            <a:ext cx="411480" cy="320040"/>
          </a:xfrm>
          <a:prstGeom prst="rect">
            <a:avLst/>
          </a:prstGeom>
          <a:noFill/>
          <a:ln/>
        </p:spPr>
        <p:txBody>
          <a:bodyPr wrap="square" lIns="0" tIns="0" rIns="0" bIns="0" rtlCol="0" anchor="ctr"/>
          <a:lstStyle/>
          <a:p>
            <a:pPr indent="0" marL="0">
              <a:buNone/>
            </a:pPr>
            <a:r>
              <a:rPr lang="en-US" sz="1150" b="1" dirty="0">
                <a:solidFill>
                  <a:srgbClr val="E0A9A1"/>
                </a:solidFill>
                <a:latin typeface="Calibri" pitchFamily="34" charset="0"/>
                <a:ea typeface="Calibri" pitchFamily="34" charset="-122"/>
                <a:cs typeface="Calibri" pitchFamily="34" charset="-120"/>
              </a:rPr>
              <a:t>3×</a:t>
            </a:r>
            <a:endParaRPr lang="en-US" sz="1150" dirty="0"/>
          </a:p>
        </p:txBody>
      </p:sp>
      <p:sp>
        <p:nvSpPr>
          <p:cNvPr id="43" name="Text 40"/>
          <p:cNvSpPr txBox="1"/>
          <p:nvPr/>
        </p:nvSpPr>
        <p:spPr>
          <a:xfrm>
            <a:off x="9601200" y="3099816"/>
            <a:ext cx="1828800" cy="320040"/>
          </a:xfrm>
          <a:prstGeom prst="rect">
            <a:avLst/>
          </a:prstGeom>
          <a:noFill/>
          <a:ln/>
        </p:spPr>
        <p:txBody>
          <a:bodyPr wrap="square" lIns="0" tIns="0" rIns="0" bIns="0" rtlCol="0" anchor="ctr"/>
          <a:lstStyle/>
          <a:p>
            <a:pPr indent="0" marL="0">
              <a:buNone/>
            </a:pPr>
            <a:r>
              <a:rPr lang="en-US" sz="1100" dirty="0">
                <a:solidFill>
                  <a:srgbClr val="ECEFF3"/>
                </a:solidFill>
                <a:latin typeface="Calibri" pitchFamily="34" charset="0"/>
                <a:ea typeface="Calibri" pitchFamily="34" charset="-122"/>
                <a:cs typeface="Calibri" pitchFamily="34" charset="-120"/>
              </a:rPr>
              <a:t>Scratches → Inclusion</a:t>
            </a:r>
            <a:endParaRPr lang="en-US" sz="1100" dirty="0"/>
          </a:p>
        </p:txBody>
      </p:sp>
      <p:sp>
        <p:nvSpPr>
          <p:cNvPr id="44" name="Text 41"/>
          <p:cNvSpPr txBox="1"/>
          <p:nvPr/>
        </p:nvSpPr>
        <p:spPr>
          <a:xfrm>
            <a:off x="9189720" y="3483864"/>
            <a:ext cx="411480" cy="320040"/>
          </a:xfrm>
          <a:prstGeom prst="rect">
            <a:avLst/>
          </a:prstGeom>
          <a:noFill/>
          <a:ln/>
        </p:spPr>
        <p:txBody>
          <a:bodyPr wrap="square" lIns="0" tIns="0" rIns="0" bIns="0" rtlCol="0" anchor="ctr"/>
          <a:lstStyle/>
          <a:p>
            <a:pPr indent="0" marL="0">
              <a:buNone/>
            </a:pPr>
            <a:r>
              <a:rPr lang="en-US" sz="1150" b="1" dirty="0">
                <a:solidFill>
                  <a:srgbClr val="E0A9A1"/>
                </a:solidFill>
                <a:latin typeface="Calibri" pitchFamily="34" charset="0"/>
                <a:ea typeface="Calibri" pitchFamily="34" charset="-122"/>
                <a:cs typeface="Calibri" pitchFamily="34" charset="-120"/>
              </a:rPr>
              <a:t>3×</a:t>
            </a:r>
            <a:endParaRPr lang="en-US" sz="1150" dirty="0"/>
          </a:p>
        </p:txBody>
      </p:sp>
      <p:sp>
        <p:nvSpPr>
          <p:cNvPr id="45" name="Text 42"/>
          <p:cNvSpPr txBox="1"/>
          <p:nvPr/>
        </p:nvSpPr>
        <p:spPr>
          <a:xfrm>
            <a:off x="9601200" y="3483864"/>
            <a:ext cx="1828800" cy="320040"/>
          </a:xfrm>
          <a:prstGeom prst="rect">
            <a:avLst/>
          </a:prstGeom>
          <a:noFill/>
          <a:ln/>
        </p:spPr>
        <p:txBody>
          <a:bodyPr wrap="square" lIns="0" tIns="0" rIns="0" bIns="0" rtlCol="0" anchor="ctr"/>
          <a:lstStyle/>
          <a:p>
            <a:pPr indent="0" marL="0">
              <a:buNone/>
            </a:pPr>
            <a:r>
              <a:rPr lang="en-US" sz="1100" dirty="0">
                <a:solidFill>
                  <a:srgbClr val="ECEFF3"/>
                </a:solidFill>
                <a:latin typeface="Calibri" pitchFamily="34" charset="0"/>
                <a:ea typeface="Calibri" pitchFamily="34" charset="-122"/>
                <a:cs typeface="Calibri" pitchFamily="34" charset="-120"/>
              </a:rPr>
              <a:t>Pitted → Crazing</a:t>
            </a:r>
            <a:endParaRPr lang="en-US" sz="1100" dirty="0"/>
          </a:p>
        </p:txBody>
      </p:sp>
      <p:sp>
        <p:nvSpPr>
          <p:cNvPr id="46" name="Text 43"/>
          <p:cNvSpPr txBox="1"/>
          <p:nvPr/>
        </p:nvSpPr>
        <p:spPr>
          <a:xfrm>
            <a:off x="9189720" y="3867912"/>
            <a:ext cx="411480" cy="320040"/>
          </a:xfrm>
          <a:prstGeom prst="rect">
            <a:avLst/>
          </a:prstGeom>
          <a:noFill/>
          <a:ln/>
        </p:spPr>
        <p:txBody>
          <a:bodyPr wrap="square" lIns="0" tIns="0" rIns="0" bIns="0" rtlCol="0" anchor="ctr"/>
          <a:lstStyle/>
          <a:p>
            <a:pPr indent="0" marL="0">
              <a:buNone/>
            </a:pPr>
            <a:r>
              <a:rPr lang="en-US" sz="1150" b="1" dirty="0">
                <a:solidFill>
                  <a:srgbClr val="E0A9A1"/>
                </a:solidFill>
                <a:latin typeface="Calibri" pitchFamily="34" charset="0"/>
                <a:ea typeface="Calibri" pitchFamily="34" charset="-122"/>
                <a:cs typeface="Calibri" pitchFamily="34" charset="-120"/>
              </a:rPr>
              <a:t>3×</a:t>
            </a:r>
            <a:endParaRPr lang="en-US" sz="1150" dirty="0"/>
          </a:p>
        </p:txBody>
      </p:sp>
      <p:sp>
        <p:nvSpPr>
          <p:cNvPr id="47" name="Text 44"/>
          <p:cNvSpPr txBox="1"/>
          <p:nvPr/>
        </p:nvSpPr>
        <p:spPr>
          <a:xfrm>
            <a:off x="9601200" y="3867912"/>
            <a:ext cx="1828800" cy="320040"/>
          </a:xfrm>
          <a:prstGeom prst="rect">
            <a:avLst/>
          </a:prstGeom>
          <a:noFill/>
          <a:ln/>
        </p:spPr>
        <p:txBody>
          <a:bodyPr wrap="square" lIns="0" tIns="0" rIns="0" bIns="0" rtlCol="0" anchor="ctr"/>
          <a:lstStyle/>
          <a:p>
            <a:pPr indent="0" marL="0">
              <a:buNone/>
            </a:pPr>
            <a:r>
              <a:rPr lang="en-US" sz="1100" dirty="0">
                <a:solidFill>
                  <a:srgbClr val="ECEFF3"/>
                </a:solidFill>
                <a:latin typeface="Calibri" pitchFamily="34" charset="0"/>
                <a:ea typeface="Calibri" pitchFamily="34" charset="-122"/>
                <a:cs typeface="Calibri" pitchFamily="34" charset="-120"/>
              </a:rPr>
              <a:t>Inclusion → Scratches</a:t>
            </a:r>
            <a:endParaRPr lang="en-US" sz="1100" dirty="0"/>
          </a:p>
        </p:txBody>
      </p:sp>
      <p:sp>
        <p:nvSpPr>
          <p:cNvPr id="48" name="Shape 45"/>
          <p:cNvSpPr/>
          <p:nvPr/>
        </p:nvSpPr>
        <p:spPr>
          <a:xfrm>
            <a:off x="8961120" y="4526280"/>
            <a:ext cx="2679192" cy="1691640"/>
          </a:xfrm>
          <a:prstGeom prst="roundRect">
            <a:avLst>
              <a:gd name="adj" fmla="val 432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49" name="Shape 46"/>
          <p:cNvSpPr/>
          <p:nvPr/>
        </p:nvSpPr>
        <p:spPr>
          <a:xfrm>
            <a:off x="8961120" y="4636008"/>
            <a:ext cx="41148" cy="1472184"/>
          </a:xfrm>
          <a:prstGeom prst="rect">
            <a:avLst/>
          </a:prstGeom>
          <a:solidFill>
            <a:srgbClr val="8FC8C0"/>
          </a:solidFill>
          <a:ln w="12700">
            <a:solidFill>
              <a:srgbClr val="333333"/>
            </a:solidFill>
            <a:prstDash val="solid"/>
          </a:ln>
        </p:spPr>
      </p:sp>
      <p:sp>
        <p:nvSpPr>
          <p:cNvPr id="50" name="Shape 47"/>
          <p:cNvSpPr/>
          <p:nvPr/>
        </p:nvSpPr>
        <p:spPr>
          <a:xfrm>
            <a:off x="9189720" y="4709160"/>
            <a:ext cx="502920" cy="502920"/>
          </a:xfrm>
          <a:prstGeom prst="roundRect">
            <a:avLst>
              <a:gd name="adj" fmla="val 40000"/>
            </a:avLst>
          </a:prstGeom>
          <a:solidFill>
            <a:srgbClr val="232A33"/>
          </a:solidFill>
          <a:ln w="12700">
            <a:solidFill>
              <a:srgbClr val="2E3640"/>
            </a:solidFill>
            <a:prstDash val="solid"/>
          </a:ln>
        </p:spPr>
      </p:sp>
      <p:pic>
        <p:nvPicPr>
          <p:cNvPr id="51" name="Image 1" descr="preencoded.png">    </p:cNvPr>
          <p:cNvPicPr>
            <a:picLocks noChangeAspect="1"/>
          </p:cNvPicPr>
          <p:nvPr/>
        </p:nvPicPr>
        <p:blipFill>
          <a:blip r:embed="rId3"/>
          <a:stretch>
            <a:fillRect/>
          </a:stretch>
        </p:blipFill>
        <p:spPr>
          <a:xfrm>
            <a:off x="9310421" y="4829861"/>
            <a:ext cx="261518" cy="261518"/>
          </a:xfrm>
          <a:prstGeom prst="rect">
            <a:avLst/>
          </a:prstGeom>
        </p:spPr>
      </p:pic>
      <p:sp>
        <p:nvSpPr>
          <p:cNvPr id="52" name="Text 48"/>
          <p:cNvSpPr txBox="1"/>
          <p:nvPr/>
        </p:nvSpPr>
        <p:spPr>
          <a:xfrm>
            <a:off x="9189720" y="5303520"/>
            <a:ext cx="2240280" cy="457200"/>
          </a:xfrm>
          <a:prstGeom prst="rect">
            <a:avLst/>
          </a:prstGeom>
          <a:noFill/>
          <a:ln/>
        </p:spPr>
        <p:txBody>
          <a:bodyPr wrap="square" lIns="0" tIns="0" rIns="0" bIns="0" rtlCol="0" anchor="t"/>
          <a:lstStyle/>
          <a:p>
            <a:pPr indent="0" marL="0">
              <a:buNone/>
            </a:pPr>
            <a:r>
              <a:rPr lang="en-US" sz="1250" b="1" dirty="0">
                <a:solidFill>
                  <a:srgbClr val="8FC8C0"/>
                </a:solidFill>
                <a:latin typeface="Arial" pitchFamily="34" charset="0"/>
                <a:ea typeface="Arial" pitchFamily="34" charset="-122"/>
                <a:cs typeface="Arial" pitchFamily="34" charset="-120"/>
              </a:rPr>
              <a:t>Wrong answers are less confident</a:t>
            </a:r>
            <a:endParaRPr lang="en-US" sz="1250" dirty="0"/>
          </a:p>
        </p:txBody>
      </p:sp>
      <p:sp>
        <p:nvSpPr>
          <p:cNvPr id="53" name="Text 49"/>
          <p:cNvSpPr txBox="1"/>
          <p:nvPr/>
        </p:nvSpPr>
        <p:spPr>
          <a:xfrm>
            <a:off x="9189720" y="5715000"/>
            <a:ext cx="2240280" cy="411480"/>
          </a:xfrm>
          <a:prstGeom prst="rect">
            <a:avLst/>
          </a:prstGeom>
          <a:noFill/>
          <a:ln/>
        </p:spPr>
        <p:txBody>
          <a:bodyPr wrap="square" lIns="0" tIns="0" rIns="0" bIns="0" rtlCol="0" anchor="t"/>
          <a:lstStyle/>
          <a:p>
            <a:pPr indent="0" marL="0">
              <a:buNone/>
            </a:pPr>
            <a:r>
              <a:rPr lang="en-US" sz="1150" dirty="0">
                <a:solidFill>
                  <a:srgbClr val="ECEFF3"/>
                </a:solidFill>
                <a:latin typeface="Calibri" pitchFamily="34" charset="0"/>
                <a:ea typeface="Calibri" pitchFamily="34" charset="-122"/>
                <a:cs typeface="Calibri" pitchFamily="34" charset="-120"/>
              </a:rPr>
              <a:t>0.95 mean confidence when right, 0.65 when wrong.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09  ·  FROM MODEL TO TOOL</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Saved as an artifact, wrapped in a working app</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10</a:t>
            </a:r>
            <a:endParaRPr lang="en-US" sz="950" dirty="0"/>
          </a:p>
        </p:txBody>
      </p:sp>
      <p:sp>
        <p:nvSpPr>
          <p:cNvPr id="7" name="Shape 5"/>
          <p:cNvSpPr/>
          <p:nvPr/>
        </p:nvSpPr>
        <p:spPr>
          <a:xfrm>
            <a:off x="548640" y="1691640"/>
            <a:ext cx="4206240" cy="4526280"/>
          </a:xfrm>
          <a:prstGeom prst="roundRect">
            <a:avLst>
              <a:gd name="adj" fmla="val 1739"/>
            </a:avLst>
          </a:prstGeom>
          <a:solidFill>
            <a:srgbClr val="F7F8FA"/>
          </a:solidFill>
          <a:ln w="12700">
            <a:solidFill>
              <a:srgbClr val="F7F8FA"/>
            </a:solidFill>
            <a:prstDash val="solid"/>
          </a:ln>
          <a:effectLst>
            <a:outerShdw sx="100000" sy="100000" kx="0" ky="0" algn="bl" rotWithShape="0" blurRad="127000" dist="25400" dir="5400000">
              <a:srgbClr val="000000">
                <a:alpha val="30000"/>
              </a:srgbClr>
            </a:outerShdw>
          </a:effectLst>
        </p:spPr>
      </p:sp>
      <p:pic>
        <p:nvPicPr>
          <p:cNvPr id="8" name="Image 0" descr="/home/claude/steel/img/c48_0.png">    </p:cNvPr>
          <p:cNvPicPr>
            <a:picLocks noChangeAspect="1"/>
          </p:cNvPicPr>
          <p:nvPr/>
        </p:nvPicPr>
        <p:blipFill>
          <a:blip r:embed="rId2"/>
          <a:stretch>
            <a:fillRect/>
          </a:stretch>
        </p:blipFill>
        <p:spPr>
          <a:xfrm>
            <a:off x="658368" y="2197292"/>
            <a:ext cx="3986784" cy="3514975"/>
          </a:xfrm>
          <a:prstGeom prst="rect">
            <a:avLst/>
          </a:prstGeom>
        </p:spPr>
      </p:pic>
      <p:sp>
        <p:nvSpPr>
          <p:cNvPr id="9" name="Text 6"/>
          <p:cNvSpPr txBox="1"/>
          <p:nvPr/>
        </p:nvSpPr>
        <p:spPr>
          <a:xfrm>
            <a:off x="548640" y="6263640"/>
            <a:ext cx="4206240" cy="274320"/>
          </a:xfrm>
          <a:prstGeom prst="rect">
            <a:avLst/>
          </a:prstGeom>
          <a:noFill/>
          <a:ln/>
        </p:spPr>
        <p:txBody>
          <a:bodyPr wrap="square" lIns="0" tIns="0" rIns="0" bIns="0" rtlCol="0" anchor="t"/>
          <a:lstStyle/>
          <a:p>
            <a:pPr indent="0" marL="0">
              <a:buNone/>
            </a:pPr>
            <a:r>
              <a:rPr lang="en-US" sz="1000" dirty="0">
                <a:solidFill>
                  <a:srgbClr val="98A2B0"/>
                </a:solidFill>
                <a:latin typeface="Calibri" pitchFamily="34" charset="0"/>
                <a:ea typeface="Calibri" pitchFamily="34" charset="-122"/>
                <a:cs typeface="Calibri" pitchFamily="34" charset="-120"/>
              </a:rPr>
              <a:t>Sample predictions on unseen test images</a:t>
            </a:r>
            <a:endParaRPr lang="en-US" sz="1000" dirty="0"/>
          </a:p>
        </p:txBody>
      </p:sp>
      <p:sp>
        <p:nvSpPr>
          <p:cNvPr id="10" name="Shape 7"/>
          <p:cNvSpPr/>
          <p:nvPr/>
        </p:nvSpPr>
        <p:spPr>
          <a:xfrm>
            <a:off x="5029200" y="1691640"/>
            <a:ext cx="6611112" cy="1353312"/>
          </a:xfrm>
          <a:prstGeom prst="roundRect">
            <a:avLst>
              <a:gd name="adj" fmla="val 540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1" name="Shape 8"/>
          <p:cNvSpPr/>
          <p:nvPr/>
        </p:nvSpPr>
        <p:spPr>
          <a:xfrm>
            <a:off x="5029200" y="1801368"/>
            <a:ext cx="41148" cy="1133856"/>
          </a:xfrm>
          <a:prstGeom prst="rect">
            <a:avLst/>
          </a:prstGeom>
          <a:solidFill>
            <a:srgbClr val="E3C79A"/>
          </a:solidFill>
          <a:ln w="12700">
            <a:solidFill>
              <a:srgbClr val="333333"/>
            </a:solidFill>
            <a:prstDash val="solid"/>
          </a:ln>
        </p:spPr>
      </p:sp>
      <p:sp>
        <p:nvSpPr>
          <p:cNvPr id="12" name="Shape 9"/>
          <p:cNvSpPr/>
          <p:nvPr/>
        </p:nvSpPr>
        <p:spPr>
          <a:xfrm>
            <a:off x="5257800" y="1920240"/>
            <a:ext cx="621792" cy="621792"/>
          </a:xfrm>
          <a:prstGeom prst="roundRect">
            <a:avLst>
              <a:gd name="adj" fmla="val 32353"/>
            </a:avLst>
          </a:prstGeom>
          <a:solidFill>
            <a:srgbClr val="232A33"/>
          </a:solidFill>
          <a:ln w="12700">
            <a:solidFill>
              <a:srgbClr val="2E3640"/>
            </a:solidFill>
            <a:prstDash val="solid"/>
          </a:ln>
        </p:spPr>
      </p:sp>
      <p:pic>
        <p:nvPicPr>
          <p:cNvPr id="13" name="Image 1" descr="preencoded.png">    </p:cNvPr>
          <p:cNvPicPr>
            <a:picLocks noChangeAspect="1"/>
          </p:cNvPicPr>
          <p:nvPr/>
        </p:nvPicPr>
        <p:blipFill>
          <a:blip r:embed="rId3"/>
          <a:stretch>
            <a:fillRect/>
          </a:stretch>
        </p:blipFill>
        <p:spPr>
          <a:xfrm>
            <a:off x="5407030" y="2069470"/>
            <a:ext cx="323332" cy="323332"/>
          </a:xfrm>
          <a:prstGeom prst="rect">
            <a:avLst/>
          </a:prstGeom>
        </p:spPr>
      </p:pic>
      <p:sp>
        <p:nvSpPr>
          <p:cNvPr id="14" name="Text 10"/>
          <p:cNvSpPr txBox="1"/>
          <p:nvPr/>
        </p:nvSpPr>
        <p:spPr>
          <a:xfrm>
            <a:off x="6053328" y="1856232"/>
            <a:ext cx="5394960" cy="320040"/>
          </a:xfrm>
          <a:prstGeom prst="rect">
            <a:avLst/>
          </a:prstGeom>
          <a:noFill/>
          <a:ln/>
        </p:spPr>
        <p:txBody>
          <a:bodyPr wrap="square" lIns="0" tIns="0" rIns="0" bIns="0" rtlCol="0" anchor="t"/>
          <a:lstStyle/>
          <a:p>
            <a:pPr indent="0" marL="0">
              <a:buNone/>
            </a:pPr>
            <a:r>
              <a:rPr lang="en-US" sz="1450" b="1" dirty="0">
                <a:solidFill>
                  <a:srgbClr val="E3C79A"/>
                </a:solidFill>
                <a:latin typeface="Arial" pitchFamily="34" charset="0"/>
                <a:ea typeface="Arial" pitchFamily="34" charset="-122"/>
                <a:cs typeface="Arial" pitchFamily="34" charset="-120"/>
              </a:rPr>
              <a:t>One saved artifact</a:t>
            </a:r>
            <a:endParaRPr lang="en-US" sz="1450" dirty="0"/>
          </a:p>
        </p:txBody>
      </p:sp>
      <p:sp>
        <p:nvSpPr>
          <p:cNvPr id="15" name="Text 11"/>
          <p:cNvSpPr txBox="1"/>
          <p:nvPr/>
        </p:nvSpPr>
        <p:spPr>
          <a:xfrm>
            <a:off x="6053328" y="2221992"/>
            <a:ext cx="5394960" cy="73152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steel_defect_classifier.keras (32.7 MB) holds the architecture, weights and preprocessing together, plus JSON metrics, the class mapping and a split manifest.</a:t>
            </a:r>
            <a:endParaRPr lang="en-US" sz="1250" dirty="0"/>
          </a:p>
        </p:txBody>
      </p:sp>
      <p:sp>
        <p:nvSpPr>
          <p:cNvPr id="16" name="Shape 12"/>
          <p:cNvSpPr/>
          <p:nvPr/>
        </p:nvSpPr>
        <p:spPr>
          <a:xfrm>
            <a:off x="5029200" y="3209544"/>
            <a:ext cx="6611112" cy="1353312"/>
          </a:xfrm>
          <a:prstGeom prst="roundRect">
            <a:avLst>
              <a:gd name="adj" fmla="val 540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7" name="Shape 13"/>
          <p:cNvSpPr/>
          <p:nvPr/>
        </p:nvSpPr>
        <p:spPr>
          <a:xfrm>
            <a:off x="5029200" y="3319272"/>
            <a:ext cx="41148" cy="1133856"/>
          </a:xfrm>
          <a:prstGeom prst="rect">
            <a:avLst/>
          </a:prstGeom>
          <a:solidFill>
            <a:srgbClr val="9DB8D9"/>
          </a:solidFill>
          <a:ln w="12700">
            <a:solidFill>
              <a:srgbClr val="333333"/>
            </a:solidFill>
            <a:prstDash val="solid"/>
          </a:ln>
        </p:spPr>
      </p:sp>
      <p:sp>
        <p:nvSpPr>
          <p:cNvPr id="18" name="Shape 14"/>
          <p:cNvSpPr/>
          <p:nvPr/>
        </p:nvSpPr>
        <p:spPr>
          <a:xfrm>
            <a:off x="5257800" y="3438144"/>
            <a:ext cx="621792" cy="621792"/>
          </a:xfrm>
          <a:prstGeom prst="roundRect">
            <a:avLst>
              <a:gd name="adj" fmla="val 32353"/>
            </a:avLst>
          </a:prstGeom>
          <a:solidFill>
            <a:srgbClr val="232A33"/>
          </a:solidFill>
          <a:ln w="12700">
            <a:solidFill>
              <a:srgbClr val="2E3640"/>
            </a:solidFill>
            <a:prstDash val="solid"/>
          </a:ln>
        </p:spPr>
      </p:sp>
      <p:pic>
        <p:nvPicPr>
          <p:cNvPr id="19" name="Image 2" descr="preencoded.png">    </p:cNvPr>
          <p:cNvPicPr>
            <a:picLocks noChangeAspect="1"/>
          </p:cNvPicPr>
          <p:nvPr/>
        </p:nvPicPr>
        <p:blipFill>
          <a:blip r:embed="rId4"/>
          <a:stretch>
            <a:fillRect/>
          </a:stretch>
        </p:blipFill>
        <p:spPr>
          <a:xfrm>
            <a:off x="5407030" y="3587374"/>
            <a:ext cx="323332" cy="323332"/>
          </a:xfrm>
          <a:prstGeom prst="rect">
            <a:avLst/>
          </a:prstGeom>
        </p:spPr>
      </p:pic>
      <p:sp>
        <p:nvSpPr>
          <p:cNvPr id="20" name="Text 15"/>
          <p:cNvSpPr txBox="1"/>
          <p:nvPr/>
        </p:nvSpPr>
        <p:spPr>
          <a:xfrm>
            <a:off x="6053328" y="3374136"/>
            <a:ext cx="5394960" cy="320040"/>
          </a:xfrm>
          <a:prstGeom prst="rect">
            <a:avLst/>
          </a:prstGeom>
          <a:noFill/>
          <a:ln/>
        </p:spPr>
        <p:txBody>
          <a:bodyPr wrap="square" lIns="0" tIns="0" rIns="0" bIns="0" rtlCol="0" anchor="t"/>
          <a:lstStyle/>
          <a:p>
            <a:pPr indent="0" marL="0">
              <a:buNone/>
            </a:pPr>
            <a:r>
              <a:rPr lang="en-US" sz="1450" b="1" dirty="0">
                <a:solidFill>
                  <a:srgbClr val="9DB8D9"/>
                </a:solidFill>
                <a:latin typeface="Arial" pitchFamily="34" charset="0"/>
                <a:ea typeface="Arial" pitchFamily="34" charset="-122"/>
                <a:cs typeface="Arial" pitchFamily="34" charset="-120"/>
              </a:rPr>
              <a:t>Gradio inspection app</a:t>
            </a:r>
            <a:endParaRPr lang="en-US" sz="1450" dirty="0"/>
          </a:p>
        </p:txBody>
      </p:sp>
      <p:sp>
        <p:nvSpPr>
          <p:cNvPr id="21" name="Text 16"/>
          <p:cNvSpPr txBox="1"/>
          <p:nvPr/>
        </p:nvSpPr>
        <p:spPr>
          <a:xfrm>
            <a:off x="6053328" y="3739896"/>
            <a:ext cx="5394960" cy="73152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Reloads the saved file and serves predictions in the browser. Someone with no Python knowledge drags in an image and reads the defect and its confidence.</a:t>
            </a:r>
            <a:endParaRPr lang="en-US" sz="1250" dirty="0"/>
          </a:p>
        </p:txBody>
      </p:sp>
      <p:sp>
        <p:nvSpPr>
          <p:cNvPr id="22" name="Shape 17"/>
          <p:cNvSpPr/>
          <p:nvPr/>
        </p:nvSpPr>
        <p:spPr>
          <a:xfrm>
            <a:off x="5029200" y="4727448"/>
            <a:ext cx="6611112" cy="1353312"/>
          </a:xfrm>
          <a:prstGeom prst="roundRect">
            <a:avLst>
              <a:gd name="adj" fmla="val 5405"/>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3" name="Shape 18"/>
          <p:cNvSpPr/>
          <p:nvPr/>
        </p:nvSpPr>
        <p:spPr>
          <a:xfrm>
            <a:off x="5029200" y="4837176"/>
            <a:ext cx="41148" cy="1133856"/>
          </a:xfrm>
          <a:prstGeom prst="rect">
            <a:avLst/>
          </a:prstGeom>
          <a:solidFill>
            <a:srgbClr val="A9C7A9"/>
          </a:solidFill>
          <a:ln w="12700">
            <a:solidFill>
              <a:srgbClr val="333333"/>
            </a:solidFill>
            <a:prstDash val="solid"/>
          </a:ln>
        </p:spPr>
      </p:sp>
      <p:sp>
        <p:nvSpPr>
          <p:cNvPr id="24" name="Shape 19"/>
          <p:cNvSpPr/>
          <p:nvPr/>
        </p:nvSpPr>
        <p:spPr>
          <a:xfrm>
            <a:off x="5257800" y="4956048"/>
            <a:ext cx="621792" cy="621792"/>
          </a:xfrm>
          <a:prstGeom prst="roundRect">
            <a:avLst>
              <a:gd name="adj" fmla="val 32353"/>
            </a:avLst>
          </a:prstGeom>
          <a:solidFill>
            <a:srgbClr val="232A33"/>
          </a:solidFill>
          <a:ln w="12700">
            <a:solidFill>
              <a:srgbClr val="2E3640"/>
            </a:solidFill>
            <a:prstDash val="solid"/>
          </a:ln>
        </p:spPr>
      </p:sp>
      <p:pic>
        <p:nvPicPr>
          <p:cNvPr id="25" name="Image 3" descr="preencoded.png">    </p:cNvPr>
          <p:cNvPicPr>
            <a:picLocks noChangeAspect="1"/>
          </p:cNvPicPr>
          <p:nvPr/>
        </p:nvPicPr>
        <p:blipFill>
          <a:blip r:embed="rId5"/>
          <a:stretch>
            <a:fillRect/>
          </a:stretch>
        </p:blipFill>
        <p:spPr>
          <a:xfrm>
            <a:off x="5407030" y="5105278"/>
            <a:ext cx="323332" cy="323332"/>
          </a:xfrm>
          <a:prstGeom prst="rect">
            <a:avLst/>
          </a:prstGeom>
        </p:spPr>
      </p:pic>
      <p:sp>
        <p:nvSpPr>
          <p:cNvPr id="26" name="Text 20"/>
          <p:cNvSpPr txBox="1"/>
          <p:nvPr/>
        </p:nvSpPr>
        <p:spPr>
          <a:xfrm>
            <a:off x="6053328" y="4892040"/>
            <a:ext cx="5394960" cy="320040"/>
          </a:xfrm>
          <a:prstGeom prst="rect">
            <a:avLst/>
          </a:prstGeom>
          <a:noFill/>
          <a:ln/>
        </p:spPr>
        <p:txBody>
          <a:bodyPr wrap="square" lIns="0" tIns="0" rIns="0" bIns="0" rtlCol="0" anchor="t"/>
          <a:lstStyle/>
          <a:p>
            <a:pPr indent="0" marL="0">
              <a:buNone/>
            </a:pPr>
            <a:r>
              <a:rPr lang="en-US" sz="1450" b="1" dirty="0">
                <a:solidFill>
                  <a:srgbClr val="A9C7A9"/>
                </a:solidFill>
                <a:latin typeface="Arial" pitchFamily="34" charset="0"/>
                <a:ea typeface="Arial" pitchFamily="34" charset="-122"/>
                <a:cs typeface="Arial" pitchFamily="34" charset="-120"/>
              </a:rPr>
              <a:t>A review threshold, not blind trust</a:t>
            </a:r>
            <a:endParaRPr lang="en-US" sz="1450" dirty="0"/>
          </a:p>
        </p:txBody>
      </p:sp>
      <p:sp>
        <p:nvSpPr>
          <p:cNvPr id="27" name="Text 21"/>
          <p:cNvSpPr txBox="1"/>
          <p:nvPr/>
        </p:nvSpPr>
        <p:spPr>
          <a:xfrm>
            <a:off x="6053328" y="5257800"/>
            <a:ext cx="5394960" cy="73152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Below 70% confidence the app recommends manual review instead of guessing, which is how an inspection aid should behave.</a:t>
            </a:r>
            <a:endParaRPr lang="en-US" sz="1250" dirty="0"/>
          </a:p>
        </p:txBody>
      </p:sp>
      <p:sp>
        <p:nvSpPr>
          <p:cNvPr id="28" name="Text 22"/>
          <p:cNvSpPr txBox="1"/>
          <p:nvPr/>
        </p:nvSpPr>
        <p:spPr>
          <a:xfrm>
            <a:off x="5029200" y="6309360"/>
            <a:ext cx="6611112" cy="320040"/>
          </a:xfrm>
          <a:prstGeom prst="rect">
            <a:avLst/>
          </a:prstGeom>
          <a:noFill/>
          <a:ln/>
        </p:spPr>
        <p:txBody>
          <a:bodyPr wrap="square" lIns="0" tIns="0" rIns="0" bIns="0" rtlCol="0" anchor="ctr"/>
          <a:lstStyle/>
          <a:p>
            <a:pPr algn="ctr" indent="0" marL="0">
              <a:buNone/>
            </a:pPr>
            <a:r>
              <a:rPr lang="en-US" sz="1100" dirty="0">
                <a:solidFill>
                  <a:srgbClr val="98A2B0"/>
                </a:solidFill>
                <a:latin typeface="Calibri" pitchFamily="34" charset="0"/>
                <a:ea typeface="Calibri" pitchFamily="34" charset="-122"/>
                <a:cs typeface="Calibri" pitchFamily="34" charset="-120"/>
              </a:rPr>
              <a:t>Factory camera  →  preprocessing  →  saved model  →  defect + confidence  →  quality-control action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150" b="1" spc="200" kern="0" dirty="0">
                <a:solidFill>
                  <a:srgbClr val="9DB8D9"/>
                </a:solidFill>
                <a:latin typeface="Arial" pitchFamily="34" charset="0"/>
                <a:ea typeface="Arial" pitchFamily="34" charset="-122"/>
                <a:cs typeface="Arial" pitchFamily="34" charset="-120"/>
              </a:rPr>
              <a:t>10  ·  WRAP-UP</a:t>
            </a:r>
            <a:endParaRPr lang="en-US" sz="115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2800" b="1" dirty="0">
                <a:solidFill>
                  <a:srgbClr val="ECEFF3"/>
                </a:solidFill>
                <a:latin typeface="Arial" pitchFamily="34" charset="0"/>
                <a:ea typeface="Arial" pitchFamily="34" charset="-122"/>
                <a:cs typeface="Arial" pitchFamily="34" charset="-120"/>
              </a:rPr>
              <a:t>What we learned, and what it would take on a real line</a:t>
            </a:r>
            <a:endParaRPr lang="en-US" sz="2800" dirty="0"/>
          </a:p>
        </p:txBody>
      </p:sp>
      <p:sp>
        <p:nvSpPr>
          <p:cNvPr id="4" name="Shape 2"/>
          <p:cNvSpPr/>
          <p:nvPr/>
        </p:nvSpPr>
        <p:spPr>
          <a:xfrm>
            <a:off x="548640" y="1389888"/>
            <a:ext cx="11091672" cy="0"/>
          </a:xfrm>
          <a:prstGeom prst="line">
            <a:avLst/>
          </a:prstGeom>
          <a:noFill/>
          <a:ln w="12700">
            <a:solidFill>
              <a:srgbClr val="2E3640"/>
            </a:solidFill>
            <a:prstDash val="solid"/>
          </a:ln>
        </p:spPr>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50" dirty="0">
                <a:solidFill>
                  <a:srgbClr val="98A2B0"/>
                </a:solidFill>
                <a:latin typeface="Calibri" pitchFamily="34" charset="0"/>
                <a:ea typeface="Calibri" pitchFamily="34" charset="-122"/>
                <a:cs typeface="Calibri" pitchFamily="34" charset="-120"/>
              </a:rPr>
              <a:t>Steel Surface Defect Classification  ·  ISEM 505</a:t>
            </a:r>
            <a:endParaRPr lang="en-US" sz="950" dirty="0"/>
          </a:p>
        </p:txBody>
      </p:sp>
      <p:sp>
        <p:nvSpPr>
          <p:cNvPr id="6" name="Text 4"/>
          <p:cNvSpPr txBox="1"/>
          <p:nvPr/>
        </p:nvSpPr>
        <p:spPr>
          <a:xfrm>
            <a:off x="10789920" y="6400800"/>
            <a:ext cx="850392" cy="274320"/>
          </a:xfrm>
          <a:prstGeom prst="rect">
            <a:avLst/>
          </a:prstGeom>
          <a:noFill/>
          <a:ln/>
        </p:spPr>
        <p:txBody>
          <a:bodyPr wrap="square" lIns="0" tIns="0" rIns="0" bIns="0" rtlCol="0" anchor="ctr"/>
          <a:lstStyle/>
          <a:p>
            <a:pPr algn="r" indent="0" marL="0">
              <a:buNone/>
            </a:pPr>
            <a:r>
              <a:rPr lang="en-US" sz="950" b="1" dirty="0">
                <a:solidFill>
                  <a:srgbClr val="98A2B0"/>
                </a:solidFill>
                <a:latin typeface="Arial" pitchFamily="34" charset="0"/>
                <a:ea typeface="Arial" pitchFamily="34" charset="-122"/>
                <a:cs typeface="Arial" pitchFamily="34" charset="-120"/>
              </a:rPr>
              <a:t>11</a:t>
            </a:r>
            <a:endParaRPr lang="en-US" sz="950" dirty="0"/>
          </a:p>
        </p:txBody>
      </p:sp>
      <p:sp>
        <p:nvSpPr>
          <p:cNvPr id="7" name="Shape 5"/>
          <p:cNvSpPr/>
          <p:nvPr/>
        </p:nvSpPr>
        <p:spPr>
          <a:xfrm>
            <a:off x="548640" y="1645920"/>
            <a:ext cx="6492240" cy="1280160"/>
          </a:xfrm>
          <a:prstGeom prst="roundRect">
            <a:avLst>
              <a:gd name="adj" fmla="val 571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8" name="Shape 6"/>
          <p:cNvSpPr/>
          <p:nvPr/>
        </p:nvSpPr>
        <p:spPr>
          <a:xfrm>
            <a:off x="548640" y="1755648"/>
            <a:ext cx="41148" cy="1060704"/>
          </a:xfrm>
          <a:prstGeom prst="rect">
            <a:avLst/>
          </a:prstGeom>
          <a:solidFill>
            <a:srgbClr val="9DB8D9"/>
          </a:solidFill>
          <a:ln w="12700">
            <a:solidFill>
              <a:srgbClr val="333333"/>
            </a:solidFill>
            <a:prstDash val="solid"/>
          </a:ln>
        </p:spPr>
      </p:sp>
      <p:sp>
        <p:nvSpPr>
          <p:cNvPr id="9" name="Text 7"/>
          <p:cNvSpPr txBox="1"/>
          <p:nvPr/>
        </p:nvSpPr>
        <p:spPr>
          <a:xfrm>
            <a:off x="822960" y="1810512"/>
            <a:ext cx="5989320" cy="320040"/>
          </a:xfrm>
          <a:prstGeom prst="rect">
            <a:avLst/>
          </a:prstGeom>
          <a:noFill/>
          <a:ln/>
        </p:spPr>
        <p:txBody>
          <a:bodyPr wrap="square" lIns="0" tIns="0" rIns="0" bIns="0" rtlCol="0" anchor="t"/>
          <a:lstStyle/>
          <a:p>
            <a:pPr indent="0" marL="0">
              <a:buNone/>
            </a:pPr>
            <a:r>
              <a:rPr lang="en-US" sz="1500" b="1" dirty="0">
                <a:solidFill>
                  <a:srgbClr val="9DB8D9"/>
                </a:solidFill>
                <a:latin typeface="Arial" pitchFamily="34" charset="0"/>
                <a:ea typeface="Arial" pitchFamily="34" charset="-122"/>
                <a:cs typeface="Arial" pitchFamily="34" charset="-120"/>
              </a:rPr>
              <a:t>Transfer learning fits small datasets</a:t>
            </a:r>
            <a:endParaRPr lang="en-US" sz="1500" dirty="0"/>
          </a:p>
        </p:txBody>
      </p:sp>
      <p:sp>
        <p:nvSpPr>
          <p:cNvPr id="10" name="Text 8"/>
          <p:cNvSpPr txBox="1"/>
          <p:nvPr/>
        </p:nvSpPr>
        <p:spPr>
          <a:xfrm>
            <a:off x="822960" y="2194560"/>
            <a:ext cx="5989320" cy="59436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1,800 images is far too few to train a CNN from scratch, but enough to retune one that already sees well.</a:t>
            </a:r>
            <a:endParaRPr lang="en-US" sz="1250" dirty="0"/>
          </a:p>
        </p:txBody>
      </p:sp>
      <p:sp>
        <p:nvSpPr>
          <p:cNvPr id="11" name="Shape 9"/>
          <p:cNvSpPr/>
          <p:nvPr/>
        </p:nvSpPr>
        <p:spPr>
          <a:xfrm>
            <a:off x="548640" y="3108960"/>
            <a:ext cx="6492240" cy="1280160"/>
          </a:xfrm>
          <a:prstGeom prst="roundRect">
            <a:avLst>
              <a:gd name="adj" fmla="val 571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2" name="Shape 10"/>
          <p:cNvSpPr/>
          <p:nvPr/>
        </p:nvSpPr>
        <p:spPr>
          <a:xfrm>
            <a:off x="548640" y="3218688"/>
            <a:ext cx="41148" cy="1060704"/>
          </a:xfrm>
          <a:prstGeom prst="rect">
            <a:avLst/>
          </a:prstGeom>
          <a:solidFill>
            <a:srgbClr val="E3C79A"/>
          </a:solidFill>
          <a:ln w="12700">
            <a:solidFill>
              <a:srgbClr val="333333"/>
            </a:solidFill>
            <a:prstDash val="solid"/>
          </a:ln>
        </p:spPr>
      </p:sp>
      <p:sp>
        <p:nvSpPr>
          <p:cNvPr id="13" name="Text 11"/>
          <p:cNvSpPr txBox="1"/>
          <p:nvPr/>
        </p:nvSpPr>
        <p:spPr>
          <a:xfrm>
            <a:off x="822960" y="3273552"/>
            <a:ext cx="5989320" cy="320040"/>
          </a:xfrm>
          <a:prstGeom prst="rect">
            <a:avLst/>
          </a:prstGeom>
          <a:noFill/>
          <a:ln/>
        </p:spPr>
        <p:txBody>
          <a:bodyPr wrap="square" lIns="0" tIns="0" rIns="0" bIns="0" rtlCol="0" anchor="t"/>
          <a:lstStyle/>
          <a:p>
            <a:pPr indent="0" marL="0">
              <a:buNone/>
            </a:pPr>
            <a:r>
              <a:rPr lang="en-US" sz="1500" b="1" dirty="0">
                <a:solidFill>
                  <a:srgbClr val="E3C79A"/>
                </a:solidFill>
                <a:latin typeface="Arial" pitchFamily="34" charset="0"/>
                <a:ea typeface="Arial" pitchFamily="34" charset="-122"/>
                <a:cs typeface="Arial" pitchFamily="34" charset="-120"/>
              </a:rPr>
              <a:t>Validation flatters, test tells the truth</a:t>
            </a:r>
            <a:endParaRPr lang="en-US" sz="1500" dirty="0"/>
          </a:p>
        </p:txBody>
      </p:sp>
      <p:sp>
        <p:nvSpPr>
          <p:cNvPr id="14" name="Text 12"/>
          <p:cNvSpPr txBox="1"/>
          <p:nvPr/>
        </p:nvSpPr>
        <p:spPr>
          <a:xfrm>
            <a:off x="822960" y="3657600"/>
            <a:ext cx="5989320" cy="59436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98.96% became 93.06% once the sealed set was opened. Only the second number is worth reporting.</a:t>
            </a:r>
            <a:endParaRPr lang="en-US" sz="1250" dirty="0"/>
          </a:p>
        </p:txBody>
      </p:sp>
      <p:sp>
        <p:nvSpPr>
          <p:cNvPr id="15" name="Shape 13"/>
          <p:cNvSpPr/>
          <p:nvPr/>
        </p:nvSpPr>
        <p:spPr>
          <a:xfrm>
            <a:off x="548640" y="4572000"/>
            <a:ext cx="6492240" cy="1280160"/>
          </a:xfrm>
          <a:prstGeom prst="roundRect">
            <a:avLst>
              <a:gd name="adj" fmla="val 5714"/>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16" name="Shape 14"/>
          <p:cNvSpPr/>
          <p:nvPr/>
        </p:nvSpPr>
        <p:spPr>
          <a:xfrm>
            <a:off x="548640" y="4681728"/>
            <a:ext cx="41148" cy="1060704"/>
          </a:xfrm>
          <a:prstGeom prst="rect">
            <a:avLst/>
          </a:prstGeom>
          <a:solidFill>
            <a:srgbClr val="A9C7A9"/>
          </a:solidFill>
          <a:ln w="12700">
            <a:solidFill>
              <a:srgbClr val="333333"/>
            </a:solidFill>
            <a:prstDash val="solid"/>
          </a:ln>
        </p:spPr>
      </p:sp>
      <p:sp>
        <p:nvSpPr>
          <p:cNvPr id="17" name="Text 15"/>
          <p:cNvSpPr txBox="1"/>
          <p:nvPr/>
        </p:nvSpPr>
        <p:spPr>
          <a:xfrm>
            <a:off x="822960" y="4736592"/>
            <a:ext cx="5989320" cy="320040"/>
          </a:xfrm>
          <a:prstGeom prst="rect">
            <a:avLst/>
          </a:prstGeom>
          <a:noFill/>
          <a:ln/>
        </p:spPr>
        <p:txBody>
          <a:bodyPr wrap="square" lIns="0" tIns="0" rIns="0" bIns="0" rtlCol="0" anchor="t"/>
          <a:lstStyle/>
          <a:p>
            <a:pPr indent="0" marL="0">
              <a:buNone/>
            </a:pPr>
            <a:r>
              <a:rPr lang="en-US" sz="1500" b="1" dirty="0">
                <a:solidFill>
                  <a:srgbClr val="A9C7A9"/>
                </a:solidFill>
                <a:latin typeface="Arial" pitchFamily="34" charset="0"/>
                <a:ea typeface="Arial" pitchFamily="34" charset="-122"/>
                <a:cs typeface="Arial" pitchFamily="34" charset="-120"/>
              </a:rPr>
              <a:t>Per-class metrics beat one headline</a:t>
            </a:r>
            <a:endParaRPr lang="en-US" sz="1500" dirty="0"/>
          </a:p>
        </p:txBody>
      </p:sp>
      <p:sp>
        <p:nvSpPr>
          <p:cNvPr id="18" name="Text 16"/>
          <p:cNvSpPr txBox="1"/>
          <p:nvPr/>
        </p:nvSpPr>
        <p:spPr>
          <a:xfrm>
            <a:off x="822960" y="5120640"/>
            <a:ext cx="5989320" cy="594360"/>
          </a:xfrm>
          <a:prstGeom prst="rect">
            <a:avLst/>
          </a:prstGeom>
          <a:noFill/>
          <a:ln/>
        </p:spPr>
        <p:txBody>
          <a:bodyPr wrap="square" lIns="0" tIns="0" rIns="0" bIns="0" rtlCol="0" anchor="t"/>
          <a:lstStyle/>
          <a:p>
            <a:pPr indent="0" marL="0">
              <a:buNone/>
            </a:pPr>
            <a:r>
              <a:rPr lang="en-US" sz="1250" dirty="0">
                <a:solidFill>
                  <a:srgbClr val="ECEFF3"/>
                </a:solidFill>
                <a:latin typeface="Calibri" pitchFamily="34" charset="0"/>
                <a:ea typeface="Calibri" pitchFamily="34" charset="-122"/>
                <a:cs typeface="Calibri" pitchFamily="34" charset="-120"/>
              </a:rPr>
              <a:t>Three defects were perfect while scratches reached 80%. The average hid both facts.</a:t>
            </a:r>
            <a:endParaRPr lang="en-US" sz="1250" dirty="0"/>
          </a:p>
        </p:txBody>
      </p:sp>
      <p:sp>
        <p:nvSpPr>
          <p:cNvPr id="19" name="Shape 17"/>
          <p:cNvSpPr/>
          <p:nvPr/>
        </p:nvSpPr>
        <p:spPr>
          <a:xfrm>
            <a:off x="7315200" y="1645920"/>
            <a:ext cx="4325112" cy="4023360"/>
          </a:xfrm>
          <a:prstGeom prst="roundRect">
            <a:avLst>
              <a:gd name="adj" fmla="val 1818"/>
            </a:avLst>
          </a:prstGeom>
          <a:solidFill>
            <a:srgbClr val="1E232B"/>
          </a:solidFill>
          <a:ln w="12700">
            <a:solidFill>
              <a:srgbClr val="2E3640"/>
            </a:solidFill>
            <a:prstDash val="solid"/>
          </a:ln>
          <a:effectLst>
            <a:outerShdw sx="100000" sy="100000" kx="0" ky="0" algn="bl" rotWithShape="0" blurRad="127000" dist="25400" dir="5400000">
              <a:srgbClr val="000000">
                <a:alpha val="30000"/>
              </a:srgbClr>
            </a:outerShdw>
          </a:effectLst>
        </p:spPr>
      </p:sp>
      <p:sp>
        <p:nvSpPr>
          <p:cNvPr id="20" name="Shape 18"/>
          <p:cNvSpPr/>
          <p:nvPr/>
        </p:nvSpPr>
        <p:spPr>
          <a:xfrm>
            <a:off x="7315200" y="1755648"/>
            <a:ext cx="41148" cy="3803904"/>
          </a:xfrm>
          <a:prstGeom prst="rect">
            <a:avLst/>
          </a:prstGeom>
          <a:solidFill>
            <a:srgbClr val="E0A9A1"/>
          </a:solidFill>
          <a:ln w="12700">
            <a:solidFill>
              <a:srgbClr val="333333"/>
            </a:solidFill>
            <a:prstDash val="solid"/>
          </a:ln>
        </p:spPr>
      </p:sp>
      <p:sp>
        <p:nvSpPr>
          <p:cNvPr id="21" name="Shape 19"/>
          <p:cNvSpPr/>
          <p:nvPr/>
        </p:nvSpPr>
        <p:spPr>
          <a:xfrm>
            <a:off x="7543800" y="1847088"/>
            <a:ext cx="594360" cy="594360"/>
          </a:xfrm>
          <a:prstGeom prst="roundRect">
            <a:avLst>
              <a:gd name="adj" fmla="val 33846"/>
            </a:avLst>
          </a:prstGeom>
          <a:solidFill>
            <a:srgbClr val="232A33"/>
          </a:solidFill>
          <a:ln w="12700">
            <a:solidFill>
              <a:srgbClr val="2E3640"/>
            </a:solidFill>
            <a:prstDash val="solid"/>
          </a:ln>
        </p:spPr>
      </p:sp>
      <p:pic>
        <p:nvPicPr>
          <p:cNvPr id="22" name="Image 0" descr="preencoded.png">    </p:cNvPr>
          <p:cNvPicPr>
            <a:picLocks noChangeAspect="1"/>
          </p:cNvPicPr>
          <p:nvPr/>
        </p:nvPicPr>
        <p:blipFill>
          <a:blip r:embed="rId2"/>
          <a:stretch>
            <a:fillRect/>
          </a:stretch>
        </p:blipFill>
        <p:spPr>
          <a:xfrm>
            <a:off x="7686446" y="1989734"/>
            <a:ext cx="309067" cy="309067"/>
          </a:xfrm>
          <a:prstGeom prst="rect">
            <a:avLst/>
          </a:prstGeom>
        </p:spPr>
      </p:pic>
      <p:sp>
        <p:nvSpPr>
          <p:cNvPr id="23" name="Text 20"/>
          <p:cNvSpPr txBox="1"/>
          <p:nvPr/>
        </p:nvSpPr>
        <p:spPr>
          <a:xfrm>
            <a:off x="8302752" y="1874520"/>
            <a:ext cx="3108960" cy="457200"/>
          </a:xfrm>
          <a:prstGeom prst="rect">
            <a:avLst/>
          </a:prstGeom>
          <a:noFill/>
          <a:ln/>
        </p:spPr>
        <p:txBody>
          <a:bodyPr wrap="square" lIns="0" tIns="0" rIns="0" bIns="0" rtlCol="0" anchor="ctr"/>
          <a:lstStyle/>
          <a:p>
            <a:pPr indent="0" marL="0">
              <a:buNone/>
            </a:pPr>
            <a:r>
              <a:rPr lang="en-US" sz="1450" b="1" dirty="0">
                <a:solidFill>
                  <a:srgbClr val="E0A9A1"/>
                </a:solidFill>
                <a:latin typeface="Arial" pitchFamily="34" charset="0"/>
                <a:ea typeface="Arial" pitchFamily="34" charset="-122"/>
                <a:cs typeface="Arial" pitchFamily="34" charset="-120"/>
              </a:rPr>
              <a:t>Before a real mill could use it</a:t>
            </a:r>
            <a:endParaRPr lang="en-US" sz="1450" dirty="0"/>
          </a:p>
        </p:txBody>
      </p:sp>
      <p:sp>
        <p:nvSpPr>
          <p:cNvPr id="24" name="Text 21"/>
          <p:cNvSpPr txBox="1"/>
          <p:nvPr/>
        </p:nvSpPr>
        <p:spPr>
          <a:xfrm>
            <a:off x="7589520" y="2651760"/>
            <a:ext cx="3794760" cy="28346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ECEFF3"/>
                </a:solidFill>
                <a:latin typeface="Calibri" pitchFamily="34" charset="0"/>
                <a:ea typeface="Calibri" pitchFamily="34" charset="-122"/>
                <a:cs typeface="Calibri" pitchFamily="34" charset="-120"/>
              </a:rPr>
              <a:t>NEU-DET is laboratory data: even lighting, fixed distance, cropped tightly around the defect</a:t>
            </a:r>
            <a:endParaRPr lang="en-US" sz="1250" dirty="0"/>
          </a:p>
          <a:p>
            <a:pPr marL="342900" indent="-342900">
              <a:spcAft>
                <a:spcPts val="1000"/>
              </a:spcAft>
              <a:buSzPct val="100000"/>
              <a:buChar char="•"/>
            </a:pPr>
            <a:r>
              <a:rPr lang="en-US" sz="1250" dirty="0">
                <a:solidFill>
                  <a:srgbClr val="ECEFF3"/>
                </a:solidFill>
                <a:latin typeface="Calibri" pitchFamily="34" charset="0"/>
                <a:ea typeface="Calibri" pitchFamily="34" charset="-122"/>
                <a:cs typeface="Calibri" pitchFamily="34" charset="-120"/>
              </a:rPr>
              <a:t>A working line adds vibration, oil, steam, motion blur and dust on the lens</a:t>
            </a:r>
            <a:endParaRPr lang="en-US" sz="1250" dirty="0"/>
          </a:p>
          <a:p>
            <a:pPr marL="342900" indent="-342900">
              <a:spcAft>
                <a:spcPts val="1000"/>
              </a:spcAft>
              <a:buSzPct val="100000"/>
              <a:buChar char="•"/>
            </a:pPr>
            <a:r>
              <a:rPr lang="en-US" sz="1250" dirty="0">
                <a:solidFill>
                  <a:srgbClr val="ECEFF3"/>
                </a:solidFill>
                <a:latin typeface="Calibri" pitchFamily="34" charset="0"/>
                <a:ea typeface="Calibri" pitchFamily="34" charset="-122"/>
                <a:cs typeface="Calibri" pitchFamily="34" charset="-120"/>
              </a:rPr>
              <a:t>Every image here contains a defect, so the model has never seen clean steel</a:t>
            </a:r>
            <a:endParaRPr lang="en-US" sz="1250" dirty="0"/>
          </a:p>
          <a:p>
            <a:pPr marL="342900" indent="-342900">
              <a:spcAft>
                <a:spcPts val="1000"/>
              </a:spcAft>
              <a:buSzPct val="100000"/>
              <a:buChar char="•"/>
            </a:pPr>
            <a:r>
              <a:rPr lang="en-US" sz="1250" dirty="0">
                <a:solidFill>
                  <a:srgbClr val="ECEFF3"/>
                </a:solidFill>
                <a:latin typeface="Calibri" pitchFamily="34" charset="0"/>
                <a:ea typeface="Calibri" pitchFamily="34" charset="-122"/>
                <a:cs typeface="Calibri" pitchFamily="34" charset="-120"/>
              </a:rPr>
              <a:t>Other grades, finishes and cameras would need retraining and far more images</a:t>
            </a:r>
            <a:endParaRPr lang="en-US" sz="1250" dirty="0"/>
          </a:p>
        </p:txBody>
      </p:sp>
      <p:sp>
        <p:nvSpPr>
          <p:cNvPr id="25" name="Shape 22"/>
          <p:cNvSpPr/>
          <p:nvPr/>
        </p:nvSpPr>
        <p:spPr>
          <a:xfrm>
            <a:off x="548640" y="5943600"/>
            <a:ext cx="11091672" cy="0"/>
          </a:xfrm>
          <a:prstGeom prst="line">
            <a:avLst/>
          </a:prstGeom>
          <a:noFill/>
          <a:ln w="12700">
            <a:solidFill>
              <a:srgbClr val="2E3640"/>
            </a:solidFill>
            <a:prstDash val="solid"/>
          </a:ln>
        </p:spPr>
      </p:sp>
      <p:sp>
        <p:nvSpPr>
          <p:cNvPr id="26" name="Text 23"/>
          <p:cNvSpPr txBox="1"/>
          <p:nvPr/>
        </p:nvSpPr>
        <p:spPr>
          <a:xfrm>
            <a:off x="548640" y="6035040"/>
            <a:ext cx="2011680" cy="411480"/>
          </a:xfrm>
          <a:prstGeom prst="rect">
            <a:avLst/>
          </a:prstGeom>
          <a:noFill/>
          <a:ln/>
        </p:spPr>
        <p:txBody>
          <a:bodyPr wrap="square" lIns="0" tIns="0" rIns="0" bIns="0" rtlCol="0" anchor="ctr"/>
          <a:lstStyle/>
          <a:p>
            <a:pPr indent="0" marL="0">
              <a:buNone/>
            </a:pPr>
            <a:r>
              <a:rPr lang="en-US" sz="1800" b="1" dirty="0">
                <a:solidFill>
                  <a:srgbClr val="ECEFF3"/>
                </a:solidFill>
                <a:latin typeface="Arial" pitchFamily="34" charset="0"/>
                <a:ea typeface="Arial" pitchFamily="34" charset="-122"/>
                <a:cs typeface="Arial" pitchFamily="34" charset="-120"/>
              </a:rPr>
              <a:t>Thank you</a:t>
            </a:r>
            <a:endParaRPr lang="en-US" sz="1800" dirty="0"/>
          </a:p>
        </p:txBody>
      </p:sp>
      <p:sp>
        <p:nvSpPr>
          <p:cNvPr id="27" name="Text 24"/>
          <p:cNvSpPr txBox="1"/>
          <p:nvPr/>
        </p:nvSpPr>
        <p:spPr>
          <a:xfrm>
            <a:off x="2743200" y="6035040"/>
            <a:ext cx="5943600" cy="411480"/>
          </a:xfrm>
          <a:prstGeom prst="rect">
            <a:avLst/>
          </a:prstGeom>
          <a:noFill/>
          <a:ln/>
        </p:spPr>
        <p:txBody>
          <a:bodyPr wrap="square" lIns="0" tIns="0" rIns="0" bIns="0" rtlCol="0" anchor="ctr"/>
          <a:lstStyle/>
          <a:p>
            <a:pPr indent="0" marL="0">
              <a:buNone/>
            </a:pPr>
            <a:r>
              <a:rPr lang="en-US" sz="1300" dirty="0">
                <a:solidFill>
                  <a:srgbClr val="98A2B0"/>
                </a:solidFill>
                <a:latin typeface="Calibri" pitchFamily="34" charset="0"/>
                <a:ea typeface="Calibri" pitchFamily="34" charset="-122"/>
                <a:cs typeface="Calibri" pitchFamily="34" charset="-120"/>
              </a:rPr>
              <a:t>Jeny George   ·   Freddy Biayi   ·   Sathwika Parshaboina</a:t>
            </a:r>
            <a:endParaRPr lang="en-US" sz="1300" dirty="0"/>
          </a:p>
        </p:txBody>
      </p:sp>
      <p:sp>
        <p:nvSpPr>
          <p:cNvPr id="28" name="Text 25"/>
          <p:cNvSpPr txBox="1"/>
          <p:nvPr/>
        </p:nvSpPr>
        <p:spPr>
          <a:xfrm>
            <a:off x="10177272" y="6035040"/>
            <a:ext cx="1463040" cy="384048"/>
          </a:xfrm>
          <a:prstGeom prst="roundRect">
            <a:avLst>
              <a:gd name="adj" fmla="val 119048"/>
            </a:avLst>
          </a:prstGeom>
          <a:solidFill>
            <a:srgbClr val="232A33"/>
          </a:solidFill>
          <a:ln w="12700">
            <a:solidFill>
              <a:srgbClr val="9DB8D9"/>
            </a:solidFill>
          </a:ln>
        </p:spPr>
        <p:txBody>
          <a:bodyPr wrap="square" lIns="0" tIns="0" rIns="0" bIns="0" rtlCol="0" anchor="ctr"/>
          <a:lstStyle/>
          <a:p>
            <a:pPr algn="ctr" indent="0" marL="0">
              <a:buNone/>
            </a:pPr>
            <a:r>
              <a:rPr lang="en-US" sz="1200" b="1" dirty="0">
                <a:solidFill>
                  <a:srgbClr val="9DB8D9"/>
                </a:solidFill>
                <a:latin typeface="Arial" pitchFamily="34" charset="0"/>
                <a:ea typeface="Arial" pitchFamily="34" charset="-122"/>
                <a:cs typeface="Arial" pitchFamily="34" charset="-120"/>
              </a:rPr>
              <a:t>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Surface Defect Classification</dc:title>
  <dc:subject>PptxGenJS Presentation</dc:subject>
  <dc:creator>PptxGenJS</dc:creator>
  <cp:lastModifiedBy>PptxGenJS</cp:lastModifiedBy>
  <cp:revision>1</cp:revision>
  <dcterms:created xsi:type="dcterms:W3CDTF">2026-09-18T20:48:16Z</dcterms:created>
  <dcterms:modified xsi:type="dcterms:W3CDTF">2026-09-18T20:48:16Z</dcterms:modified>
</cp:coreProperties>
</file>